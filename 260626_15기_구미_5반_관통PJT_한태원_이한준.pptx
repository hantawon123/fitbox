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4EC"/>
    <a:srgbClr val="F5F4EE"/>
    <a:srgbClr val="F3EEDC"/>
    <a:srgbClr val="C6C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58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233438-F7D5-42E4-A835-1B3B4CF7B4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C906FFD-9FD7-4F37-96B7-D159750EB10A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2571750" cy="361950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F5142"/>
                </a:solidFill>
              </a:defRPr>
            </a:pPr>
            <a:r>
              <a:rPr sz="1200" b="1">
                <a:solidFill>
                  <a:srgbClr val="3F5142"/>
                </a:solidFill>
              </a:rPr>
              <a:t>SSAFY Android Final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5ADCE7-12BD-4F76-854D-81DC02C9A9B1}"/>
              </a:ext>
            </a:extLst>
          </p:cNvPr>
          <p:cNvSpPr>
            <a:spLocks noGrp="1"/>
          </p:cNvSpPr>
          <p:nvPr/>
        </p:nvSpPr>
        <p:spPr>
          <a:xfrm>
            <a:off x="723900" y="2667733"/>
            <a:ext cx="5905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D302B"/>
                </a:solidFill>
              </a:defRPr>
            </a:pPr>
            <a:r>
              <a:rPr sz="2700" b="1" dirty="0">
                <a:solidFill>
                  <a:srgbClr val="2D302B"/>
                </a:solidFill>
              </a:rPr>
              <a:t>AI </a:t>
            </a:r>
            <a:r>
              <a:rPr sz="2700" b="1" dirty="0" err="1">
                <a:solidFill>
                  <a:srgbClr val="2D302B"/>
                </a:solidFill>
              </a:rPr>
              <a:t>기반</a:t>
            </a:r>
            <a:r>
              <a:rPr sz="2700" b="1" dirty="0">
                <a:solidFill>
                  <a:srgbClr val="2D302B"/>
                </a:solidFill>
              </a:rPr>
              <a:t> </a:t>
            </a:r>
            <a:r>
              <a:rPr sz="2700" b="1" dirty="0" err="1">
                <a:solidFill>
                  <a:srgbClr val="2D302B"/>
                </a:solidFill>
              </a:rPr>
              <a:t>개인</a:t>
            </a:r>
            <a:r>
              <a:rPr sz="2700" b="1" dirty="0">
                <a:solidFill>
                  <a:srgbClr val="2D302B"/>
                </a:solidFill>
              </a:rPr>
              <a:t> </a:t>
            </a:r>
            <a:r>
              <a:rPr sz="2700" b="1" dirty="0" err="1">
                <a:solidFill>
                  <a:srgbClr val="2D302B"/>
                </a:solidFill>
              </a:rPr>
              <a:t>맞춤</a:t>
            </a:r>
            <a:endParaRPr sz="2700" b="1" dirty="0">
              <a:solidFill>
                <a:srgbClr val="2D302B"/>
              </a:solidFill>
            </a:endParaRPr>
          </a:p>
          <a:p>
            <a:pPr algn="l">
              <a:defRPr sz="2700" b="1">
                <a:solidFill>
                  <a:srgbClr val="2D302B"/>
                </a:solidFill>
              </a:defRPr>
            </a:pPr>
            <a:r>
              <a:rPr sz="2700" b="1" dirty="0" err="1">
                <a:solidFill>
                  <a:srgbClr val="2D302B"/>
                </a:solidFill>
              </a:rPr>
              <a:t>식단</a:t>
            </a:r>
            <a:r>
              <a:rPr sz="2700" b="1" dirty="0">
                <a:solidFill>
                  <a:srgbClr val="2D302B"/>
                </a:solidFill>
              </a:rPr>
              <a:t> </a:t>
            </a:r>
            <a:r>
              <a:rPr sz="2700" b="1" dirty="0" err="1">
                <a:solidFill>
                  <a:srgbClr val="2D302B"/>
                </a:solidFill>
              </a:rPr>
              <a:t>커스터마이징</a:t>
            </a:r>
            <a:r>
              <a:rPr sz="2700" b="1" dirty="0">
                <a:solidFill>
                  <a:srgbClr val="2D302B"/>
                </a:solidFill>
              </a:rPr>
              <a:t> O2O </a:t>
            </a:r>
            <a:r>
              <a:rPr sz="2700" b="1" dirty="0" err="1">
                <a:solidFill>
                  <a:srgbClr val="2D302B"/>
                </a:solidFill>
              </a:rPr>
              <a:t>플랫폼</a:t>
            </a:r>
            <a:endParaRPr sz="2700" b="1" dirty="0">
              <a:solidFill>
                <a:srgbClr val="2D302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099072-0365-4775-8F5B-1A59DC7F3541}"/>
              </a:ext>
            </a:extLst>
          </p:cNvPr>
          <p:cNvSpPr>
            <a:spLocks noGrp="1"/>
          </p:cNvSpPr>
          <p:nvPr/>
        </p:nvSpPr>
        <p:spPr>
          <a:xfrm>
            <a:off x="742950" y="4067908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17166"/>
                </a:solidFill>
              </a:defRPr>
            </a:pPr>
            <a:r>
              <a:rPr sz="1500" b="0" dirty="0" err="1">
                <a:solidFill>
                  <a:srgbClr val="717166"/>
                </a:solidFill>
              </a:rPr>
              <a:t>추천부터</a:t>
            </a:r>
            <a:r>
              <a:rPr sz="1500" b="0" dirty="0">
                <a:solidFill>
                  <a:srgbClr val="717166"/>
                </a:solidFill>
              </a:rPr>
              <a:t> </a:t>
            </a:r>
            <a:r>
              <a:rPr sz="1500" b="0" dirty="0" err="1">
                <a:solidFill>
                  <a:srgbClr val="717166"/>
                </a:solidFill>
              </a:rPr>
              <a:t>주문</a:t>
            </a:r>
            <a:r>
              <a:rPr sz="1500" b="0" dirty="0">
                <a:solidFill>
                  <a:srgbClr val="717166"/>
                </a:solidFill>
              </a:rPr>
              <a:t> · </a:t>
            </a:r>
            <a:r>
              <a:rPr sz="1500" b="0" dirty="0" err="1">
                <a:solidFill>
                  <a:srgbClr val="717166"/>
                </a:solidFill>
              </a:rPr>
              <a:t>구독</a:t>
            </a:r>
            <a:r>
              <a:rPr sz="1500" b="0" dirty="0">
                <a:solidFill>
                  <a:srgbClr val="717166"/>
                </a:solidFill>
              </a:rPr>
              <a:t> · </a:t>
            </a:r>
            <a:r>
              <a:rPr sz="1500" b="0" dirty="0" err="1">
                <a:solidFill>
                  <a:srgbClr val="717166"/>
                </a:solidFill>
              </a:rPr>
              <a:t>픽업</a:t>
            </a:r>
            <a:r>
              <a:rPr sz="1500" b="0" dirty="0">
                <a:solidFill>
                  <a:srgbClr val="717166"/>
                </a:solidFill>
              </a:rPr>
              <a:t> · </a:t>
            </a:r>
            <a:r>
              <a:rPr sz="1500" b="0" dirty="0" err="1">
                <a:solidFill>
                  <a:srgbClr val="717166"/>
                </a:solidFill>
              </a:rPr>
              <a:t>알림까지</a:t>
            </a:r>
            <a:r>
              <a:rPr sz="1500" b="0" dirty="0">
                <a:solidFill>
                  <a:srgbClr val="717166"/>
                </a:solidFill>
              </a:rPr>
              <a:t> </a:t>
            </a:r>
            <a:r>
              <a:rPr sz="1500" b="0" dirty="0" err="1">
                <a:solidFill>
                  <a:srgbClr val="717166"/>
                </a:solidFill>
              </a:rPr>
              <a:t>이어지는</a:t>
            </a:r>
            <a:r>
              <a:rPr sz="1500" b="0" dirty="0">
                <a:solidFill>
                  <a:srgbClr val="717166"/>
                </a:solidFill>
              </a:rPr>
              <a:t> </a:t>
            </a:r>
            <a:r>
              <a:rPr sz="1500" b="0" dirty="0" err="1">
                <a:solidFill>
                  <a:srgbClr val="717166"/>
                </a:solidFill>
              </a:rPr>
              <a:t>식단</a:t>
            </a:r>
            <a:r>
              <a:rPr sz="1500" b="0" dirty="0">
                <a:solidFill>
                  <a:srgbClr val="717166"/>
                </a:solidFill>
              </a:rPr>
              <a:t> </a:t>
            </a:r>
            <a:r>
              <a:rPr sz="1500" b="0" dirty="0" err="1">
                <a:solidFill>
                  <a:srgbClr val="717166"/>
                </a:solidFill>
              </a:rPr>
              <a:t>서비스</a:t>
            </a:r>
            <a:endParaRPr sz="1500" b="0" dirty="0">
              <a:solidFill>
                <a:srgbClr val="717166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913DC3-C0E1-4FE3-AE17-1A7DB5BE44AD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629508" cy="4887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D302B"/>
                </a:solidFill>
              </a:defRPr>
            </a:pPr>
            <a:r>
              <a:rPr lang="en-US" sz="1500" b="1" dirty="0">
                <a:solidFill>
                  <a:srgbClr val="2D302B"/>
                </a:solidFill>
              </a:rPr>
              <a:t>1524290 </a:t>
            </a:r>
            <a:r>
              <a:rPr sz="1500" b="1" dirty="0" err="1">
                <a:solidFill>
                  <a:srgbClr val="2D302B"/>
                </a:solidFill>
              </a:rPr>
              <a:t>한태원</a:t>
            </a:r>
            <a:endParaRPr lang="en-US" sz="1500" b="1" dirty="0">
              <a:solidFill>
                <a:srgbClr val="2D302B"/>
              </a:solidFill>
            </a:endParaRPr>
          </a:p>
          <a:p>
            <a:pPr algn="l">
              <a:defRPr sz="1500" b="1">
                <a:solidFill>
                  <a:srgbClr val="2D302B"/>
                </a:solidFill>
              </a:defRPr>
            </a:pPr>
            <a:r>
              <a:rPr lang="en-US" sz="1500" b="1" dirty="0">
                <a:solidFill>
                  <a:srgbClr val="2D302B"/>
                </a:solidFill>
              </a:rPr>
              <a:t>1525223 </a:t>
            </a:r>
            <a:r>
              <a:rPr sz="1500" b="1" dirty="0" err="1">
                <a:solidFill>
                  <a:srgbClr val="2D302B"/>
                </a:solidFill>
              </a:rPr>
              <a:t>이한준</a:t>
            </a:r>
            <a:endParaRPr sz="1500" b="1" dirty="0">
              <a:solidFill>
                <a:srgbClr val="2D302B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6AE227F-CE01-4DC5-9718-F21203C2BDCF}"/>
              </a:ext>
            </a:extLst>
          </p:cNvPr>
          <p:cNvCxnSpPr>
            <a:cxnSpLocks/>
          </p:cNvCxnSpPr>
          <p:nvPr/>
        </p:nvCxnSpPr>
        <p:spPr>
          <a:xfrm>
            <a:off x="650631" y="5070230"/>
            <a:ext cx="11072446" cy="0"/>
          </a:xfrm>
          <a:prstGeom prst="line">
            <a:avLst/>
          </a:prstGeom>
          <a:ln>
            <a:solidFill>
              <a:srgbClr val="C6C0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2E755CD9-9905-4700-808E-CEB16338B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62593"/>
            <a:ext cx="2136532" cy="6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4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CB9D87-7091-4FDE-AF30-44CD09192C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F4D077-1EFB-4AEC-B2FC-4ED47FE51B1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68E78"/>
                </a:solidFill>
              </a:defRPr>
            </a:pPr>
            <a:r>
              <a:rPr sz="1200" b="1">
                <a:solidFill>
                  <a:srgbClr val="768E78"/>
                </a:solidFill>
              </a:rPr>
              <a:t>01  기획 배경 &amp;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F723C4-BB77-47A7-871D-C1EA2983A755}"/>
              </a:ext>
            </a:extLst>
          </p:cNvPr>
          <p:cNvSpPr>
            <a:spLocks noGrp="1"/>
          </p:cNvSpPr>
          <p:nvPr/>
        </p:nvSpPr>
        <p:spPr>
          <a:xfrm>
            <a:off x="8858250" y="6305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17166"/>
                </a:solidFill>
              </a:defRPr>
            </a:pPr>
            <a:r>
              <a:rPr sz="1050" b="0">
                <a:solidFill>
                  <a:srgbClr val="717166"/>
                </a:solidFill>
              </a:rPr>
              <a:t>FitBox · AI 맞춤 식단 O2O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DDA0A0-0552-4316-93FD-CCF1ADCE370B}"/>
              </a:ext>
            </a:extLst>
          </p:cNvPr>
          <p:cNvSpPr>
            <a:spLocks noGrp="1"/>
          </p:cNvSpPr>
          <p:nvPr/>
        </p:nvSpPr>
        <p:spPr>
          <a:xfrm>
            <a:off x="723900" y="904875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D302B"/>
                </a:solidFill>
              </a:defRPr>
            </a:pPr>
            <a:r>
              <a:rPr sz="3150" b="1" dirty="0" err="1">
                <a:solidFill>
                  <a:srgbClr val="2D302B"/>
                </a:solidFill>
              </a:rPr>
              <a:t>식단</a:t>
            </a:r>
            <a:r>
              <a:rPr sz="3150" b="1" dirty="0">
                <a:solidFill>
                  <a:srgbClr val="2D302B"/>
                </a:solidFill>
              </a:rPr>
              <a:t> </a:t>
            </a:r>
            <a:r>
              <a:rPr sz="3150" b="1" dirty="0" err="1">
                <a:solidFill>
                  <a:srgbClr val="2D302B"/>
                </a:solidFill>
              </a:rPr>
              <a:t>관리는</a:t>
            </a:r>
            <a:r>
              <a:rPr sz="3150" b="1" dirty="0">
                <a:solidFill>
                  <a:srgbClr val="2D302B"/>
                </a:solidFill>
              </a:rPr>
              <a:t> </a:t>
            </a:r>
            <a:r>
              <a:rPr sz="3150" b="1" dirty="0" err="1">
                <a:solidFill>
                  <a:srgbClr val="2D302B"/>
                </a:solidFill>
              </a:rPr>
              <a:t>어렵고</a:t>
            </a:r>
            <a:r>
              <a:rPr sz="3150" b="1" dirty="0">
                <a:solidFill>
                  <a:srgbClr val="2D302B"/>
                </a:solidFill>
              </a:rPr>
              <a:t>,</a:t>
            </a:r>
          </a:p>
          <a:p>
            <a:pPr algn="l">
              <a:defRPr sz="3150" b="1">
                <a:solidFill>
                  <a:srgbClr val="2D302B"/>
                </a:solidFill>
              </a:defRPr>
            </a:pPr>
            <a:r>
              <a:rPr sz="3150" b="1" dirty="0" err="1">
                <a:solidFill>
                  <a:srgbClr val="2D302B"/>
                </a:solidFill>
              </a:rPr>
              <a:t>주문은</a:t>
            </a:r>
            <a:r>
              <a:rPr sz="3150" b="1" dirty="0">
                <a:solidFill>
                  <a:srgbClr val="2D302B"/>
                </a:solidFill>
              </a:rPr>
              <a:t> </a:t>
            </a:r>
            <a:r>
              <a:rPr lang="ko-KR" altLang="en-US" sz="3150" b="1" dirty="0">
                <a:solidFill>
                  <a:srgbClr val="2D302B"/>
                </a:solidFill>
              </a:rPr>
              <a:t>따로 </a:t>
            </a:r>
            <a:r>
              <a:rPr lang="ko-KR" altLang="en-US" sz="3150" b="1" dirty="0" err="1">
                <a:solidFill>
                  <a:srgbClr val="2D302B"/>
                </a:solidFill>
              </a:rPr>
              <a:t>움직</a:t>
            </a:r>
            <a:r>
              <a:rPr sz="3150" b="1" dirty="0" err="1">
                <a:solidFill>
                  <a:srgbClr val="2D302B"/>
                </a:solidFill>
              </a:rPr>
              <a:t>입니다</a:t>
            </a:r>
            <a:endParaRPr sz="3150" b="1" dirty="0">
              <a:solidFill>
                <a:srgbClr val="2D302B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500668-7DA1-4ECE-8687-CABADF6161F5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717166"/>
                </a:solidFill>
              </a:defRPr>
            </a:pPr>
            <a:r>
              <a:rPr sz="1650" b="0" dirty="0" err="1">
                <a:solidFill>
                  <a:srgbClr val="717166"/>
                </a:solidFill>
              </a:rPr>
              <a:t>FitBox는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개인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정보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기반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추천과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실제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주문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흐름을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하나로</a:t>
            </a:r>
            <a:r>
              <a:rPr sz="1650" b="0" dirty="0">
                <a:solidFill>
                  <a:srgbClr val="717166"/>
                </a:solidFill>
              </a:rPr>
              <a:t> </a:t>
            </a:r>
            <a:r>
              <a:rPr sz="1650" b="0" dirty="0" err="1">
                <a:solidFill>
                  <a:srgbClr val="717166"/>
                </a:solidFill>
              </a:rPr>
              <a:t>연결합니다</a:t>
            </a:r>
            <a:r>
              <a:rPr sz="1650" b="0" dirty="0">
                <a:solidFill>
                  <a:srgbClr val="717166"/>
                </a:solidFill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D5B3DA3-4911-4C93-9739-F7EC684DF7FB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3190875" cy="21907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1D2705A-621A-4857-90B3-64D599DC3BF0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895350" cy="323850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F5142"/>
                </a:solidFill>
              </a:defRPr>
            </a:pPr>
            <a:r>
              <a:rPr sz="1125" b="1">
                <a:solidFill>
                  <a:srgbClr val="3F5142"/>
                </a:solidFill>
              </a:rPr>
              <a:t>문제 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8E1869-CF1A-4FB7-8658-D03067DF2850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D302B"/>
                </a:solidFill>
              </a:defRPr>
            </a:pPr>
            <a:r>
              <a:rPr lang="ko-KR" altLang="en-US" sz="2025" b="1" dirty="0">
                <a:solidFill>
                  <a:srgbClr val="2D302B"/>
                </a:solidFill>
              </a:rPr>
              <a:t>목표 기반 식단 선택의 어려움</a:t>
            </a:r>
            <a:endParaRPr sz="2025" b="1" dirty="0">
              <a:solidFill>
                <a:srgbClr val="2D302B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6E37C9-1BA5-427F-924C-22A2CD17B14B}"/>
              </a:ext>
            </a:extLst>
          </p:cNvPr>
          <p:cNvSpPr>
            <a:spLocks noGrp="1"/>
          </p:cNvSpPr>
          <p:nvPr/>
        </p:nvSpPr>
        <p:spPr>
          <a:xfrm>
            <a:off x="971550" y="448076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17166"/>
                </a:solidFill>
              </a:defRPr>
            </a:pPr>
            <a:r>
              <a:rPr lang="ko-KR" altLang="en-US" sz="1350" b="0" dirty="0">
                <a:solidFill>
                  <a:srgbClr val="717166"/>
                </a:solidFill>
              </a:rPr>
              <a:t>다이어트 </a:t>
            </a:r>
            <a:r>
              <a:rPr lang="en-US" altLang="ko-KR" sz="1350" b="0" dirty="0">
                <a:solidFill>
                  <a:srgbClr val="717166"/>
                </a:solidFill>
              </a:rPr>
              <a:t>· </a:t>
            </a:r>
            <a:r>
              <a:rPr lang="ko-KR" altLang="en-US" sz="1350" b="0" dirty="0" err="1">
                <a:solidFill>
                  <a:srgbClr val="717166"/>
                </a:solidFill>
              </a:rPr>
              <a:t>벌크업</a:t>
            </a:r>
            <a:r>
              <a:rPr lang="ko-KR" altLang="en-US" sz="1350" b="0" dirty="0">
                <a:solidFill>
                  <a:srgbClr val="717166"/>
                </a:solidFill>
              </a:rPr>
              <a:t> </a:t>
            </a:r>
            <a:r>
              <a:rPr lang="en-US" altLang="ko-KR" sz="1350" b="0" dirty="0">
                <a:solidFill>
                  <a:srgbClr val="717166"/>
                </a:solidFill>
              </a:rPr>
              <a:t>· </a:t>
            </a:r>
            <a:r>
              <a:rPr lang="ko-KR" altLang="en-US" sz="1350" b="0" dirty="0">
                <a:solidFill>
                  <a:srgbClr val="717166"/>
                </a:solidFill>
              </a:rPr>
              <a:t>유지 등</a:t>
            </a:r>
            <a:br>
              <a:rPr lang="en-US" altLang="ko-KR" sz="1350" b="0" dirty="0">
                <a:solidFill>
                  <a:srgbClr val="717166"/>
                </a:solidFill>
              </a:rPr>
            </a:br>
            <a:r>
              <a:rPr lang="ko-KR" altLang="en-US" sz="1350" b="0" dirty="0">
                <a:solidFill>
                  <a:srgbClr val="717166"/>
                </a:solidFill>
              </a:rPr>
              <a:t>개인 목표에 맞는 식단을 매번</a:t>
            </a:r>
            <a:br>
              <a:rPr lang="en-US" altLang="ko-KR" sz="1350" b="0" dirty="0">
                <a:solidFill>
                  <a:srgbClr val="717166"/>
                </a:solidFill>
              </a:rPr>
            </a:br>
            <a:r>
              <a:rPr lang="ko-KR" altLang="en-US" sz="1350" b="0" dirty="0">
                <a:solidFill>
                  <a:srgbClr val="717166"/>
                </a:solidFill>
              </a:rPr>
              <a:t>직접 판단해야 함</a:t>
            </a:r>
            <a:endParaRPr sz="1350" b="0" dirty="0">
              <a:solidFill>
                <a:srgbClr val="717166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C4C62D7-E0AE-4C44-9504-B5DD8DEA6E88}"/>
              </a:ext>
            </a:extLst>
          </p:cNvPr>
          <p:cNvSpPr>
            <a:spLocks noGrp="1"/>
          </p:cNvSpPr>
          <p:nvPr/>
        </p:nvSpPr>
        <p:spPr>
          <a:xfrm>
            <a:off x="4343400" y="3143250"/>
            <a:ext cx="3190875" cy="21907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43CE5B-556C-42C2-B952-38AB2053D04D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895350" cy="323850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F5142"/>
                </a:solidFill>
              </a:defRPr>
            </a:pPr>
            <a:r>
              <a:rPr sz="1125" b="1" dirty="0" err="1">
                <a:solidFill>
                  <a:srgbClr val="3F5142"/>
                </a:solidFill>
              </a:rPr>
              <a:t>문제</a:t>
            </a:r>
            <a:r>
              <a:rPr sz="1125" b="1" dirty="0">
                <a:solidFill>
                  <a:srgbClr val="3F5142"/>
                </a:solidFill>
              </a:rPr>
              <a:t> 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382C44-9582-411C-8B7F-6158C22F8272}"/>
              </a:ext>
            </a:extLst>
          </p:cNvPr>
          <p:cNvSpPr>
            <a:spLocks noGrp="1"/>
          </p:cNvSpPr>
          <p:nvPr/>
        </p:nvSpPr>
        <p:spPr>
          <a:xfrm>
            <a:off x="4572000" y="37623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D302B"/>
                </a:solidFill>
              </a:defRPr>
            </a:pPr>
            <a:r>
              <a:rPr lang="ko-KR" altLang="en-US" sz="2025" b="1" dirty="0">
                <a:solidFill>
                  <a:srgbClr val="2D302B"/>
                </a:solidFill>
              </a:rPr>
              <a:t>영양 정보와 주문의 분리</a:t>
            </a:r>
            <a:endParaRPr sz="2025" b="1" dirty="0">
              <a:solidFill>
                <a:srgbClr val="2D302B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9C355B-8E5A-47A8-B209-63466264A65A}"/>
              </a:ext>
            </a:extLst>
          </p:cNvPr>
          <p:cNvSpPr>
            <a:spLocks noGrp="1"/>
          </p:cNvSpPr>
          <p:nvPr/>
        </p:nvSpPr>
        <p:spPr>
          <a:xfrm>
            <a:off x="4572000" y="448076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17166"/>
                </a:solidFill>
              </a:defRPr>
            </a:pPr>
            <a:r>
              <a:rPr lang="ko-KR" altLang="en-US" sz="1350" b="0" dirty="0">
                <a:solidFill>
                  <a:srgbClr val="717166"/>
                </a:solidFill>
              </a:rPr>
              <a:t>칼로리 </a:t>
            </a:r>
            <a:r>
              <a:rPr lang="en-US" altLang="ko-KR" sz="1350" dirty="0">
                <a:solidFill>
                  <a:srgbClr val="717166"/>
                </a:solidFill>
              </a:rPr>
              <a:t>· </a:t>
            </a:r>
            <a:r>
              <a:rPr lang="ko-KR" altLang="en-US" sz="1350" dirty="0">
                <a:solidFill>
                  <a:srgbClr val="717166"/>
                </a:solidFill>
              </a:rPr>
              <a:t>영양소 </a:t>
            </a:r>
            <a:r>
              <a:rPr lang="en-US" altLang="ko-KR" sz="1350" dirty="0">
                <a:solidFill>
                  <a:srgbClr val="717166"/>
                </a:solidFill>
              </a:rPr>
              <a:t>· </a:t>
            </a:r>
            <a:r>
              <a:rPr lang="ko-KR" altLang="en-US" sz="1350" dirty="0">
                <a:solidFill>
                  <a:srgbClr val="717166"/>
                </a:solidFill>
              </a:rPr>
              <a:t>알레르기 정보를 따로 확인하고 실제 주문에 직접 반영해야 함</a:t>
            </a:r>
            <a:endParaRPr sz="1350" b="0" dirty="0">
              <a:solidFill>
                <a:srgbClr val="717166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AB1128-6B60-40C7-BAF9-27860945697B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3190875" cy="21907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63FDB0-6A0E-48FA-9CE4-38F421858912}"/>
              </a:ext>
            </a:extLst>
          </p:cNvPr>
          <p:cNvSpPr>
            <a:spLocks noGrp="1"/>
          </p:cNvSpPr>
          <p:nvPr/>
        </p:nvSpPr>
        <p:spPr>
          <a:xfrm>
            <a:off x="8172450" y="3371850"/>
            <a:ext cx="895350" cy="323850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F5142"/>
                </a:solidFill>
              </a:defRPr>
            </a:pPr>
            <a:r>
              <a:rPr sz="1125" b="1">
                <a:solidFill>
                  <a:srgbClr val="3F5142"/>
                </a:solidFill>
              </a:rPr>
              <a:t>문제 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63315-53D2-4626-B71E-42122F45988D}"/>
              </a:ext>
            </a:extLst>
          </p:cNvPr>
          <p:cNvSpPr>
            <a:spLocks noGrp="1"/>
          </p:cNvSpPr>
          <p:nvPr/>
        </p:nvSpPr>
        <p:spPr>
          <a:xfrm>
            <a:off x="8172450" y="37623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D302B"/>
                </a:solidFill>
              </a:defRPr>
            </a:pPr>
            <a:r>
              <a:rPr lang="ko-KR" altLang="en-US" sz="2025" b="1" dirty="0">
                <a:solidFill>
                  <a:srgbClr val="2D302B"/>
                </a:solidFill>
              </a:rPr>
              <a:t>반복 식단 관리의 번거로움</a:t>
            </a:r>
            <a:endParaRPr sz="2025" b="1" dirty="0">
              <a:solidFill>
                <a:srgbClr val="2D302B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28B9F-9203-42DF-998A-CA0DBF0C14CF}"/>
              </a:ext>
            </a:extLst>
          </p:cNvPr>
          <p:cNvSpPr>
            <a:spLocks noGrp="1"/>
          </p:cNvSpPr>
          <p:nvPr/>
        </p:nvSpPr>
        <p:spPr>
          <a:xfrm>
            <a:off x="8172450" y="448076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17166"/>
                </a:solidFill>
              </a:defRPr>
            </a:pPr>
            <a:r>
              <a:rPr lang="ko-KR" altLang="en-US" sz="1350" b="0" dirty="0">
                <a:solidFill>
                  <a:srgbClr val="717166"/>
                </a:solidFill>
              </a:rPr>
              <a:t>매번 메뉴를 고르고 주문해야 해서 꾸준한 식단 루틴을 유지하기 어려움</a:t>
            </a:r>
            <a:endParaRPr sz="1350" b="0" dirty="0">
              <a:solidFill>
                <a:srgbClr val="717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A81605-67F2-41FF-994B-B9F68916E9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C7ED0F-F20A-4E9C-8679-6CE332965F1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68E78"/>
                </a:solidFill>
              </a:defRPr>
            </a:pPr>
            <a:r>
              <a:rPr sz="1200" b="1" dirty="0">
                <a:solidFill>
                  <a:srgbClr val="768E78"/>
                </a:solidFill>
              </a:rPr>
              <a:t>0</a:t>
            </a:r>
            <a:r>
              <a:rPr lang="en-US" sz="1200" b="1" dirty="0">
                <a:solidFill>
                  <a:srgbClr val="768E78"/>
                </a:solidFill>
              </a:rPr>
              <a:t>2</a:t>
            </a:r>
            <a:r>
              <a:rPr sz="1200" b="1" dirty="0">
                <a:solidFill>
                  <a:srgbClr val="768E78"/>
                </a:solidFill>
              </a:rPr>
              <a:t>  </a:t>
            </a:r>
            <a:r>
              <a:rPr sz="1200" b="1" dirty="0" err="1">
                <a:solidFill>
                  <a:srgbClr val="768E78"/>
                </a:solidFill>
              </a:rPr>
              <a:t>서비스</a:t>
            </a:r>
            <a:r>
              <a:rPr sz="1200" b="1" dirty="0">
                <a:solidFill>
                  <a:srgbClr val="768E78"/>
                </a:solidFill>
              </a:rPr>
              <a:t> </a:t>
            </a:r>
            <a:r>
              <a:rPr sz="1200" b="1" dirty="0" err="1">
                <a:solidFill>
                  <a:srgbClr val="768E78"/>
                </a:solidFill>
              </a:rPr>
              <a:t>흐름</a:t>
            </a:r>
            <a:endParaRPr sz="1200" b="1" dirty="0">
              <a:solidFill>
                <a:srgbClr val="768E7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5C918F-70EB-4A5A-ADF8-63F028274834}"/>
              </a:ext>
            </a:extLst>
          </p:cNvPr>
          <p:cNvSpPr>
            <a:spLocks noGrp="1"/>
          </p:cNvSpPr>
          <p:nvPr/>
        </p:nvSpPr>
        <p:spPr>
          <a:xfrm>
            <a:off x="8858250" y="6305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17166"/>
                </a:solidFill>
              </a:defRPr>
            </a:pPr>
            <a:r>
              <a:rPr sz="1050" b="0">
                <a:solidFill>
                  <a:srgbClr val="717166"/>
                </a:solidFill>
              </a:rPr>
              <a:t>FitBox · AI 맞춤 식단 O2O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A3D068-3544-41B0-8805-A4A1E9221B58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5905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D302B"/>
                </a:solidFill>
              </a:defRPr>
            </a:pPr>
            <a:r>
              <a:rPr lang="ko-KR" altLang="en-US" sz="3150" b="1" dirty="0">
                <a:solidFill>
                  <a:srgbClr val="2D302B"/>
                </a:solidFill>
              </a:rPr>
              <a:t>개인 맞춤 추천부터 주문 </a:t>
            </a:r>
            <a:r>
              <a:rPr lang="en-US" altLang="ko-KR" sz="3150" b="1" dirty="0">
                <a:solidFill>
                  <a:srgbClr val="2D302B"/>
                </a:solidFill>
              </a:rPr>
              <a:t>· </a:t>
            </a:r>
            <a:r>
              <a:rPr lang="ko-KR" altLang="en-US" sz="3150" b="1" dirty="0">
                <a:solidFill>
                  <a:srgbClr val="2D302B"/>
                </a:solidFill>
              </a:rPr>
              <a:t>구독 </a:t>
            </a:r>
            <a:r>
              <a:rPr lang="en-US" altLang="ko-KR" sz="3150" b="1" dirty="0">
                <a:solidFill>
                  <a:srgbClr val="2D302B"/>
                </a:solidFill>
              </a:rPr>
              <a:t>· </a:t>
            </a:r>
            <a:r>
              <a:rPr lang="ko-KR" altLang="en-US" sz="3150" b="1" dirty="0">
                <a:solidFill>
                  <a:srgbClr val="2D302B"/>
                </a:solidFill>
              </a:rPr>
              <a:t>수령까지 한 번에 진행됩니다</a:t>
            </a:r>
            <a:endParaRPr sz="3150" b="1" dirty="0">
              <a:solidFill>
                <a:srgbClr val="2D302B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7693B58-B173-4306-AF8E-A1394A5C0A30}"/>
              </a:ext>
            </a:extLst>
          </p:cNvPr>
          <p:cNvSpPr>
            <a:spLocks noGrp="1"/>
          </p:cNvSpPr>
          <p:nvPr/>
        </p:nvSpPr>
        <p:spPr>
          <a:xfrm>
            <a:off x="691662" y="2916336"/>
            <a:ext cx="1853197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CA55BA-ECE0-415A-8B14-07C01838E3C3}"/>
              </a:ext>
            </a:extLst>
          </p:cNvPr>
          <p:cNvSpPr>
            <a:spLocks noGrp="1"/>
          </p:cNvSpPr>
          <p:nvPr/>
        </p:nvSpPr>
        <p:spPr>
          <a:xfrm>
            <a:off x="709612" y="3026056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F9CD87-D6DF-408D-9DA9-96F1D55598A4}"/>
              </a:ext>
            </a:extLst>
          </p:cNvPr>
          <p:cNvSpPr>
            <a:spLocks noGrp="1"/>
          </p:cNvSpPr>
          <p:nvPr/>
        </p:nvSpPr>
        <p:spPr>
          <a:xfrm>
            <a:off x="685800" y="3500949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D302B"/>
                </a:solidFill>
              </a:defRPr>
            </a:pPr>
            <a:r>
              <a:rPr sz="1600" b="1" dirty="0" err="1">
                <a:solidFill>
                  <a:srgbClr val="2D302B"/>
                </a:solidFill>
              </a:rPr>
              <a:t>회원가입</a:t>
            </a:r>
            <a:endParaRPr sz="1600" b="1" dirty="0">
              <a:solidFill>
                <a:srgbClr val="2D302B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40118E-1B1E-47F3-B88F-948A685E010C}"/>
              </a:ext>
            </a:extLst>
          </p:cNvPr>
          <p:cNvSpPr>
            <a:spLocks noGrp="1"/>
          </p:cNvSpPr>
          <p:nvPr/>
        </p:nvSpPr>
        <p:spPr>
          <a:xfrm>
            <a:off x="685800" y="3975409"/>
            <a:ext cx="198852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17166"/>
                </a:solidFill>
              </a:defRPr>
            </a:pPr>
            <a:r>
              <a:rPr sz="1125" b="0" dirty="0" err="1">
                <a:solidFill>
                  <a:srgbClr val="717166"/>
                </a:solidFill>
              </a:rPr>
              <a:t>신체</a:t>
            </a:r>
            <a:r>
              <a:rPr sz="1125" b="0" dirty="0">
                <a:solidFill>
                  <a:srgbClr val="717166"/>
                </a:solidFill>
              </a:rPr>
              <a:t> </a:t>
            </a:r>
            <a:r>
              <a:rPr sz="1125" b="0" dirty="0" err="1">
                <a:solidFill>
                  <a:srgbClr val="717166"/>
                </a:solidFill>
              </a:rPr>
              <a:t>정보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목적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알레르기</a:t>
            </a:r>
            <a:endParaRPr sz="1125" b="0" dirty="0">
              <a:solidFill>
                <a:srgbClr val="717166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8DD21D-E462-4FAA-8824-AE9885B24C53}"/>
              </a:ext>
            </a:extLst>
          </p:cNvPr>
          <p:cNvSpPr>
            <a:spLocks noGrp="1"/>
          </p:cNvSpPr>
          <p:nvPr/>
        </p:nvSpPr>
        <p:spPr>
          <a:xfrm>
            <a:off x="2540913" y="3445711"/>
            <a:ext cx="440423" cy="289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081D0E8-5DD6-4E42-93E6-2BDA4C1971A1}"/>
              </a:ext>
            </a:extLst>
          </p:cNvPr>
          <p:cNvSpPr>
            <a:spLocks noGrp="1"/>
          </p:cNvSpPr>
          <p:nvPr/>
        </p:nvSpPr>
        <p:spPr>
          <a:xfrm>
            <a:off x="2952307" y="2908609"/>
            <a:ext cx="1853197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C0D521-25DA-4BF4-9CB3-3146516ABE1A}"/>
              </a:ext>
            </a:extLst>
          </p:cNvPr>
          <p:cNvSpPr>
            <a:spLocks noGrp="1"/>
          </p:cNvSpPr>
          <p:nvPr/>
        </p:nvSpPr>
        <p:spPr>
          <a:xfrm>
            <a:off x="2970257" y="3041605"/>
            <a:ext cx="571500" cy="34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1CA2A-23A9-40D4-96D8-ADF1B1920387}"/>
              </a:ext>
            </a:extLst>
          </p:cNvPr>
          <p:cNvSpPr>
            <a:spLocks noGrp="1"/>
          </p:cNvSpPr>
          <p:nvPr/>
        </p:nvSpPr>
        <p:spPr>
          <a:xfrm>
            <a:off x="2957795" y="3468879"/>
            <a:ext cx="1238250" cy="2526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D302B"/>
                </a:solidFill>
              </a:defRPr>
            </a:pPr>
            <a:r>
              <a:rPr sz="1600" b="1" dirty="0">
                <a:solidFill>
                  <a:srgbClr val="2D302B"/>
                </a:solidFill>
              </a:rPr>
              <a:t>AI </a:t>
            </a:r>
            <a:r>
              <a:rPr sz="1600" b="1" dirty="0" err="1">
                <a:solidFill>
                  <a:srgbClr val="2D302B"/>
                </a:solidFill>
              </a:rPr>
              <a:t>상담</a:t>
            </a:r>
            <a:endParaRPr sz="1600" b="1" dirty="0">
              <a:solidFill>
                <a:srgbClr val="2D302B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C74A1F-D8FB-48DF-A89F-6777EFB8FADD}"/>
              </a:ext>
            </a:extLst>
          </p:cNvPr>
          <p:cNvSpPr>
            <a:spLocks noGrp="1"/>
          </p:cNvSpPr>
          <p:nvPr/>
        </p:nvSpPr>
        <p:spPr>
          <a:xfrm>
            <a:off x="2959432" y="3991874"/>
            <a:ext cx="1736481" cy="34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17166"/>
                </a:solidFill>
              </a:defRPr>
            </a:pPr>
            <a:r>
              <a:rPr sz="1125" b="0" dirty="0" err="1">
                <a:solidFill>
                  <a:srgbClr val="717166"/>
                </a:solidFill>
              </a:rPr>
              <a:t>취향</a:t>
            </a:r>
            <a:r>
              <a:rPr sz="1125" b="0" dirty="0">
                <a:solidFill>
                  <a:srgbClr val="717166"/>
                </a:solidFill>
              </a:rPr>
              <a:t> </a:t>
            </a:r>
            <a:r>
              <a:rPr sz="1125" b="0" dirty="0" err="1">
                <a:solidFill>
                  <a:srgbClr val="717166"/>
                </a:solidFill>
              </a:rPr>
              <a:t>분석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목적</a:t>
            </a:r>
            <a:r>
              <a:rPr sz="1125" b="0" dirty="0">
                <a:solidFill>
                  <a:srgbClr val="717166"/>
                </a:solidFill>
              </a:rPr>
              <a:t> </a:t>
            </a:r>
            <a:r>
              <a:rPr sz="1125" b="0" dirty="0" err="1">
                <a:solidFill>
                  <a:srgbClr val="717166"/>
                </a:solidFill>
              </a:rPr>
              <a:t>확정</a:t>
            </a:r>
            <a:endParaRPr sz="1125" b="0" dirty="0">
              <a:solidFill>
                <a:srgbClr val="717166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253D5BB-7588-446F-B4CF-D0581AA5E53E}"/>
              </a:ext>
            </a:extLst>
          </p:cNvPr>
          <p:cNvSpPr>
            <a:spLocks noGrp="1"/>
          </p:cNvSpPr>
          <p:nvPr/>
        </p:nvSpPr>
        <p:spPr>
          <a:xfrm>
            <a:off x="5226746" y="2916336"/>
            <a:ext cx="18540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3ACAF4-45AE-4B0C-9FEB-101DAAC0F627}"/>
              </a:ext>
            </a:extLst>
          </p:cNvPr>
          <p:cNvSpPr>
            <a:spLocks noGrp="1"/>
          </p:cNvSpPr>
          <p:nvPr/>
        </p:nvSpPr>
        <p:spPr>
          <a:xfrm>
            <a:off x="5244695" y="3017393"/>
            <a:ext cx="640167" cy="4054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950DA3-E7D3-461F-A011-DDB9669DECE5}"/>
              </a:ext>
            </a:extLst>
          </p:cNvPr>
          <p:cNvSpPr>
            <a:spLocks noGrp="1"/>
          </p:cNvSpPr>
          <p:nvPr/>
        </p:nvSpPr>
        <p:spPr>
          <a:xfrm>
            <a:off x="5210992" y="3443690"/>
            <a:ext cx="1994370" cy="298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D302B"/>
                </a:solidFill>
              </a:defRPr>
            </a:pPr>
            <a:r>
              <a:rPr lang="ko-KR" altLang="en-US" sz="1600" b="1" dirty="0">
                <a:solidFill>
                  <a:srgbClr val="2D302B"/>
                </a:solidFill>
              </a:rPr>
              <a:t>맞춤 식단 추천 </a:t>
            </a:r>
            <a:endParaRPr lang="en-US" altLang="ko-KR" sz="1600" b="1" dirty="0">
              <a:solidFill>
                <a:srgbClr val="2D302B"/>
              </a:solidFill>
            </a:endParaRPr>
          </a:p>
          <a:p>
            <a:pPr algn="l">
              <a:defRPr sz="1725" b="1">
                <a:solidFill>
                  <a:srgbClr val="2D302B"/>
                </a:solidFill>
              </a:defRPr>
            </a:pPr>
            <a:r>
              <a:rPr lang="en-US" altLang="ko-KR" sz="1600" b="1" dirty="0">
                <a:solidFill>
                  <a:srgbClr val="2D302B"/>
                </a:solidFill>
              </a:rPr>
              <a:t>/ </a:t>
            </a:r>
            <a:r>
              <a:rPr lang="ko-KR" altLang="en-US" sz="1600" b="1" dirty="0">
                <a:solidFill>
                  <a:srgbClr val="2D302B"/>
                </a:solidFill>
              </a:rPr>
              <a:t>구성</a:t>
            </a:r>
            <a:endParaRPr sz="1600" b="1" dirty="0">
              <a:solidFill>
                <a:srgbClr val="2D302B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D90FB2B-428F-4A7B-B9F8-9599C43DA8B1}"/>
              </a:ext>
            </a:extLst>
          </p:cNvPr>
          <p:cNvSpPr>
            <a:spLocks noGrp="1"/>
          </p:cNvSpPr>
          <p:nvPr/>
        </p:nvSpPr>
        <p:spPr>
          <a:xfrm>
            <a:off x="5244696" y="4002570"/>
            <a:ext cx="1956613" cy="4054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17166"/>
                </a:solidFill>
              </a:defRPr>
            </a:pPr>
            <a:r>
              <a:rPr sz="1125" b="0" dirty="0" err="1">
                <a:solidFill>
                  <a:srgbClr val="717166"/>
                </a:solidFill>
              </a:rPr>
              <a:t>완제품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커스텀</a:t>
            </a:r>
            <a:r>
              <a:rPr sz="1125" b="0" dirty="0">
                <a:solidFill>
                  <a:srgbClr val="717166"/>
                </a:solidFill>
              </a:rPr>
              <a:t> · AI </a:t>
            </a:r>
            <a:r>
              <a:rPr sz="1125" b="0" dirty="0" err="1">
                <a:solidFill>
                  <a:srgbClr val="717166"/>
                </a:solidFill>
              </a:rPr>
              <a:t>추천</a:t>
            </a:r>
            <a:endParaRPr sz="1125" b="0" dirty="0">
              <a:solidFill>
                <a:srgbClr val="717166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816B935-F506-41EB-8C76-A6ABF785B95A}"/>
              </a:ext>
            </a:extLst>
          </p:cNvPr>
          <p:cNvSpPr>
            <a:spLocks noGrp="1"/>
          </p:cNvSpPr>
          <p:nvPr/>
        </p:nvSpPr>
        <p:spPr>
          <a:xfrm>
            <a:off x="7518038" y="2910253"/>
            <a:ext cx="1853197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50B7BA-5616-4943-ACA8-ACF188DBCE1D}"/>
              </a:ext>
            </a:extLst>
          </p:cNvPr>
          <p:cNvSpPr>
            <a:spLocks noGrp="1"/>
          </p:cNvSpPr>
          <p:nvPr/>
        </p:nvSpPr>
        <p:spPr>
          <a:xfrm>
            <a:off x="7558259" y="2979348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04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937FBC-9DDD-43AE-8922-E38E0AE9AD42}"/>
              </a:ext>
            </a:extLst>
          </p:cNvPr>
          <p:cNvSpPr>
            <a:spLocks noGrp="1"/>
          </p:cNvSpPr>
          <p:nvPr/>
        </p:nvSpPr>
        <p:spPr>
          <a:xfrm>
            <a:off x="7539209" y="3477379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D302B"/>
                </a:solidFill>
              </a:defRPr>
            </a:pPr>
            <a:r>
              <a:rPr sz="1600" b="1" dirty="0" err="1">
                <a:solidFill>
                  <a:srgbClr val="2D302B"/>
                </a:solidFill>
              </a:rPr>
              <a:t>주문</a:t>
            </a:r>
            <a:r>
              <a:rPr sz="1600" b="1" dirty="0">
                <a:solidFill>
                  <a:srgbClr val="2D302B"/>
                </a:solidFill>
              </a:rPr>
              <a:t>/</a:t>
            </a:r>
            <a:r>
              <a:rPr sz="1600" b="1" dirty="0" err="1">
                <a:solidFill>
                  <a:srgbClr val="2D302B"/>
                </a:solidFill>
              </a:rPr>
              <a:t>구독</a:t>
            </a:r>
            <a:endParaRPr sz="1600" b="1" dirty="0">
              <a:solidFill>
                <a:srgbClr val="2D302B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ED11FB-B2EA-4864-975F-941CDD2C1E53}"/>
              </a:ext>
            </a:extLst>
          </p:cNvPr>
          <p:cNvSpPr>
            <a:spLocks noGrp="1"/>
          </p:cNvSpPr>
          <p:nvPr/>
        </p:nvSpPr>
        <p:spPr>
          <a:xfrm>
            <a:off x="7539423" y="3972811"/>
            <a:ext cx="181297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17166"/>
                </a:solidFill>
              </a:defRPr>
            </a:pPr>
            <a:r>
              <a:rPr sz="1125" b="0" dirty="0" err="1">
                <a:solidFill>
                  <a:srgbClr val="717166"/>
                </a:solidFill>
              </a:rPr>
              <a:t>단건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장바구니</a:t>
            </a:r>
            <a:r>
              <a:rPr sz="1125" b="0" dirty="0">
                <a:solidFill>
                  <a:srgbClr val="717166"/>
                </a:solidFill>
              </a:rPr>
              <a:t> · 월 </a:t>
            </a:r>
            <a:r>
              <a:rPr sz="1125" b="0" dirty="0" err="1">
                <a:solidFill>
                  <a:srgbClr val="717166"/>
                </a:solidFill>
              </a:rPr>
              <a:t>구독</a:t>
            </a:r>
            <a:endParaRPr sz="1125" b="0" dirty="0">
              <a:solidFill>
                <a:srgbClr val="717166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4248CAB-34D6-4317-9BF8-ADCE72A65AED}"/>
              </a:ext>
            </a:extLst>
          </p:cNvPr>
          <p:cNvSpPr>
            <a:spLocks noGrp="1"/>
          </p:cNvSpPr>
          <p:nvPr/>
        </p:nvSpPr>
        <p:spPr>
          <a:xfrm>
            <a:off x="9802431" y="2908609"/>
            <a:ext cx="1853197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E38CA11-0ECF-4612-B377-241240977185}"/>
              </a:ext>
            </a:extLst>
          </p:cNvPr>
          <p:cNvSpPr>
            <a:spLocks noGrp="1"/>
          </p:cNvSpPr>
          <p:nvPr/>
        </p:nvSpPr>
        <p:spPr>
          <a:xfrm>
            <a:off x="9842652" y="2977704"/>
            <a:ext cx="57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05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D43599F-6B57-4A54-AEEE-DAAC34BCC51C}"/>
              </a:ext>
            </a:extLst>
          </p:cNvPr>
          <p:cNvSpPr>
            <a:spLocks noGrp="1"/>
          </p:cNvSpPr>
          <p:nvPr/>
        </p:nvSpPr>
        <p:spPr>
          <a:xfrm>
            <a:off x="9823601" y="3475735"/>
            <a:ext cx="161424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D302B"/>
                </a:solidFill>
              </a:defRPr>
            </a:pPr>
            <a:r>
              <a:rPr sz="1600" b="1" dirty="0" err="1">
                <a:solidFill>
                  <a:srgbClr val="2D302B"/>
                </a:solidFill>
              </a:rPr>
              <a:t>수령</a:t>
            </a:r>
            <a:r>
              <a:rPr lang="en-US" sz="1600" b="1" dirty="0">
                <a:solidFill>
                  <a:srgbClr val="2D302B"/>
                </a:solidFill>
              </a:rPr>
              <a:t> / </a:t>
            </a:r>
            <a:r>
              <a:rPr lang="ko-KR" altLang="en-US" sz="1600" b="1" dirty="0">
                <a:solidFill>
                  <a:srgbClr val="2D302B"/>
                </a:solidFill>
              </a:rPr>
              <a:t>알림</a:t>
            </a:r>
            <a:endParaRPr sz="1600" b="1" dirty="0">
              <a:solidFill>
                <a:srgbClr val="2D302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2116592-0D1C-4D36-AD7E-3253DF647CFE}"/>
              </a:ext>
            </a:extLst>
          </p:cNvPr>
          <p:cNvSpPr>
            <a:spLocks noGrp="1"/>
          </p:cNvSpPr>
          <p:nvPr/>
        </p:nvSpPr>
        <p:spPr>
          <a:xfrm>
            <a:off x="9818331" y="3972811"/>
            <a:ext cx="177751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17166"/>
                </a:solidFill>
              </a:defRPr>
            </a:pPr>
            <a:r>
              <a:rPr sz="1125" b="0" dirty="0" err="1">
                <a:solidFill>
                  <a:srgbClr val="717166"/>
                </a:solidFill>
              </a:rPr>
              <a:t>매장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픽업</a:t>
            </a:r>
            <a:r>
              <a:rPr sz="1125" b="0" dirty="0">
                <a:solidFill>
                  <a:srgbClr val="717166"/>
                </a:solidFill>
              </a:rPr>
              <a:t> </a:t>
            </a:r>
            <a:r>
              <a:rPr sz="1125" b="0" dirty="0" err="1">
                <a:solidFill>
                  <a:srgbClr val="717166"/>
                </a:solidFill>
              </a:rPr>
              <a:t>포인트</a:t>
            </a:r>
            <a:r>
              <a:rPr sz="1125" b="0" dirty="0">
                <a:solidFill>
                  <a:srgbClr val="717166"/>
                </a:solidFill>
              </a:rPr>
              <a:t> · </a:t>
            </a:r>
            <a:r>
              <a:rPr sz="1125" b="0" dirty="0" err="1">
                <a:solidFill>
                  <a:srgbClr val="717166"/>
                </a:solidFill>
              </a:rPr>
              <a:t>배송</a:t>
            </a:r>
            <a:endParaRPr sz="1125" b="0" dirty="0">
              <a:solidFill>
                <a:srgbClr val="717166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D4CF99-EF64-4AB2-A910-90F35EF9ED98}"/>
              </a:ext>
            </a:extLst>
          </p:cNvPr>
          <p:cNvSpPr>
            <a:spLocks noGrp="1"/>
          </p:cNvSpPr>
          <p:nvPr/>
        </p:nvSpPr>
        <p:spPr>
          <a:xfrm>
            <a:off x="742950" y="5304057"/>
            <a:ext cx="933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3F5142"/>
                </a:solidFill>
              </a:defRPr>
            </a:pPr>
            <a:r>
              <a:rPr sz="1725" b="1" dirty="0" err="1">
                <a:solidFill>
                  <a:srgbClr val="3F5142"/>
                </a:solidFill>
              </a:rPr>
              <a:t>핵심</a:t>
            </a:r>
            <a:r>
              <a:rPr sz="1725" b="1" dirty="0">
                <a:solidFill>
                  <a:srgbClr val="3F5142"/>
                </a:solidFill>
              </a:rPr>
              <a:t>: AI </a:t>
            </a:r>
            <a:r>
              <a:rPr sz="1725" b="1" dirty="0" err="1">
                <a:solidFill>
                  <a:srgbClr val="3F5142"/>
                </a:solidFill>
              </a:rPr>
              <a:t>추천</a:t>
            </a:r>
            <a:r>
              <a:rPr sz="1725" b="1" dirty="0">
                <a:solidFill>
                  <a:srgbClr val="3F5142"/>
                </a:solidFill>
              </a:rPr>
              <a:t> </a:t>
            </a:r>
            <a:r>
              <a:rPr sz="1725" b="1" dirty="0" err="1">
                <a:solidFill>
                  <a:srgbClr val="3F5142"/>
                </a:solidFill>
              </a:rPr>
              <a:t>결과가</a:t>
            </a:r>
            <a:r>
              <a:rPr sz="1725" b="1" dirty="0">
                <a:solidFill>
                  <a:srgbClr val="3F5142"/>
                </a:solidFill>
              </a:rPr>
              <a:t> </a:t>
            </a:r>
            <a:r>
              <a:rPr lang="ko-KR" altLang="en-US" sz="1725" b="1" dirty="0">
                <a:solidFill>
                  <a:srgbClr val="3F5142"/>
                </a:solidFill>
              </a:rPr>
              <a:t>식단 구성</a:t>
            </a:r>
            <a:r>
              <a:rPr lang="en-US" altLang="ko-KR" sz="1725" b="1" dirty="0">
                <a:solidFill>
                  <a:srgbClr val="3F5142"/>
                </a:solidFill>
              </a:rPr>
              <a:t>, </a:t>
            </a:r>
            <a:r>
              <a:rPr lang="ko-KR" altLang="en-US" sz="1725" b="1" dirty="0">
                <a:solidFill>
                  <a:srgbClr val="3F5142"/>
                </a:solidFill>
              </a:rPr>
              <a:t>주문</a:t>
            </a:r>
            <a:r>
              <a:rPr lang="en-US" altLang="ko-KR" sz="1725" b="1" dirty="0">
                <a:solidFill>
                  <a:srgbClr val="3F5142"/>
                </a:solidFill>
              </a:rPr>
              <a:t>·</a:t>
            </a:r>
            <a:r>
              <a:rPr lang="ko-KR" altLang="en-US" sz="1725" b="1" dirty="0">
                <a:solidFill>
                  <a:srgbClr val="3F5142"/>
                </a:solidFill>
              </a:rPr>
              <a:t>구독</a:t>
            </a:r>
            <a:r>
              <a:rPr lang="en-US" altLang="ko-KR" sz="1725" b="1" dirty="0">
                <a:solidFill>
                  <a:srgbClr val="3F5142"/>
                </a:solidFill>
              </a:rPr>
              <a:t>, </a:t>
            </a:r>
            <a:r>
              <a:rPr lang="ko-KR" altLang="en-US" sz="1725" b="1" dirty="0">
                <a:solidFill>
                  <a:srgbClr val="3F5142"/>
                </a:solidFill>
              </a:rPr>
              <a:t>수령 알림까지 이어지는 </a:t>
            </a:r>
            <a:r>
              <a:rPr lang="en-US" altLang="ko-KR" sz="1725" b="1" dirty="0">
                <a:solidFill>
                  <a:srgbClr val="3F5142"/>
                </a:solidFill>
              </a:rPr>
              <a:t>O2O </a:t>
            </a:r>
            <a:r>
              <a:rPr lang="ko-KR" altLang="en-US" sz="1725" b="1" dirty="0">
                <a:solidFill>
                  <a:srgbClr val="3F5142"/>
                </a:solidFill>
              </a:rPr>
              <a:t>구조</a:t>
            </a:r>
            <a:endParaRPr sz="1725" b="1" dirty="0">
              <a:solidFill>
                <a:srgbClr val="3F5142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9C1E57-85A1-4D48-A865-1D02F75E9A14}"/>
              </a:ext>
            </a:extLst>
          </p:cNvPr>
          <p:cNvSpPr>
            <a:spLocks noGrp="1"/>
          </p:cNvSpPr>
          <p:nvPr/>
        </p:nvSpPr>
        <p:spPr>
          <a:xfrm>
            <a:off x="4803896" y="3429971"/>
            <a:ext cx="440423" cy="289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C93259-3464-435D-90C6-618DA7219761}"/>
              </a:ext>
            </a:extLst>
          </p:cNvPr>
          <p:cNvSpPr>
            <a:spLocks noGrp="1"/>
          </p:cNvSpPr>
          <p:nvPr/>
        </p:nvSpPr>
        <p:spPr>
          <a:xfrm>
            <a:off x="7089897" y="3392222"/>
            <a:ext cx="440423" cy="289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1893C52-F1BC-43E9-A732-50F0123A776A}"/>
              </a:ext>
            </a:extLst>
          </p:cNvPr>
          <p:cNvSpPr>
            <a:spLocks noGrp="1"/>
          </p:cNvSpPr>
          <p:nvPr/>
        </p:nvSpPr>
        <p:spPr>
          <a:xfrm>
            <a:off x="9352054" y="3399876"/>
            <a:ext cx="440423" cy="289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1278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FBCD0B-E2AA-4B73-A36F-19B83141A5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07EDC1-9D4A-439C-88B6-3B27B661BC5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68E78"/>
                </a:solidFill>
              </a:defRPr>
            </a:pPr>
            <a:r>
              <a:rPr sz="1200" b="1" dirty="0">
                <a:solidFill>
                  <a:srgbClr val="768E78"/>
                </a:solidFill>
              </a:rPr>
              <a:t>0</a:t>
            </a:r>
            <a:r>
              <a:rPr lang="en-US" sz="1200" b="1" dirty="0">
                <a:solidFill>
                  <a:srgbClr val="768E78"/>
                </a:solidFill>
              </a:rPr>
              <a:t>3</a:t>
            </a:r>
            <a:r>
              <a:rPr sz="1200" b="1" dirty="0">
                <a:solidFill>
                  <a:srgbClr val="768E78"/>
                </a:solidFill>
              </a:rPr>
              <a:t>  </a:t>
            </a:r>
            <a:r>
              <a:rPr sz="1200" b="1" dirty="0" err="1">
                <a:solidFill>
                  <a:srgbClr val="768E78"/>
                </a:solidFill>
              </a:rPr>
              <a:t>핵심</a:t>
            </a:r>
            <a:r>
              <a:rPr sz="1200" b="1" dirty="0">
                <a:solidFill>
                  <a:srgbClr val="768E78"/>
                </a:solidFill>
              </a:rPr>
              <a:t> </a:t>
            </a:r>
            <a:r>
              <a:rPr sz="1200" b="1" dirty="0" err="1">
                <a:solidFill>
                  <a:srgbClr val="768E78"/>
                </a:solidFill>
              </a:rPr>
              <a:t>기능</a:t>
            </a:r>
            <a:endParaRPr sz="1200" b="1" dirty="0">
              <a:solidFill>
                <a:srgbClr val="768E7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B7200C-E2AB-46D3-80BC-420919AA91B3}"/>
              </a:ext>
            </a:extLst>
          </p:cNvPr>
          <p:cNvSpPr>
            <a:spLocks noGrp="1"/>
          </p:cNvSpPr>
          <p:nvPr/>
        </p:nvSpPr>
        <p:spPr>
          <a:xfrm>
            <a:off x="8858250" y="6305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17166"/>
                </a:solidFill>
              </a:defRPr>
            </a:pPr>
            <a:r>
              <a:rPr sz="1050" b="0">
                <a:solidFill>
                  <a:srgbClr val="717166"/>
                </a:solidFill>
              </a:rPr>
              <a:t>FitBox · AI 맞춤 식단 O2O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6DF29D-D480-4BFE-BD13-96FE2192F861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D302B"/>
                </a:solidFill>
              </a:defRPr>
            </a:pPr>
            <a:r>
              <a:rPr sz="3150" b="1" dirty="0" err="1">
                <a:solidFill>
                  <a:srgbClr val="2D302B"/>
                </a:solidFill>
              </a:rPr>
              <a:t>FitBox의</a:t>
            </a:r>
            <a:r>
              <a:rPr sz="3150" b="1" dirty="0">
                <a:solidFill>
                  <a:srgbClr val="2D302B"/>
                </a:solidFill>
              </a:rPr>
              <a:t> </a:t>
            </a:r>
            <a:r>
              <a:rPr sz="3150" b="1" dirty="0" err="1">
                <a:solidFill>
                  <a:srgbClr val="2D302B"/>
                </a:solidFill>
              </a:rPr>
              <a:t>기능은</a:t>
            </a:r>
            <a:r>
              <a:rPr sz="3150" b="1" dirty="0">
                <a:solidFill>
                  <a:srgbClr val="2D302B"/>
                </a:solidFill>
              </a:rPr>
              <a:t> 네 </a:t>
            </a:r>
            <a:r>
              <a:rPr sz="3150" b="1" dirty="0" err="1">
                <a:solidFill>
                  <a:srgbClr val="2D302B"/>
                </a:solidFill>
              </a:rPr>
              <a:t>흐름으로</a:t>
            </a:r>
            <a:r>
              <a:rPr sz="3150" b="1" dirty="0">
                <a:solidFill>
                  <a:srgbClr val="2D302B"/>
                </a:solidFill>
              </a:rPr>
              <a:t> </a:t>
            </a:r>
            <a:r>
              <a:rPr sz="3150" b="1" dirty="0" err="1">
                <a:solidFill>
                  <a:srgbClr val="2D302B"/>
                </a:solidFill>
              </a:rPr>
              <a:t>묶입니다</a:t>
            </a:r>
            <a:endParaRPr sz="3150" b="1" dirty="0">
              <a:solidFill>
                <a:srgbClr val="2D302B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B56CD0C-BB3D-46C7-98BB-CCCC64D1603E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5095875" cy="142875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DC37D4-5908-4220-9689-CC6345D35496}"/>
              </a:ext>
            </a:extLst>
          </p:cNvPr>
          <p:cNvSpPr>
            <a:spLocks noGrp="1"/>
          </p:cNvSpPr>
          <p:nvPr/>
        </p:nvSpPr>
        <p:spPr>
          <a:xfrm>
            <a:off x="990600" y="233362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68E78"/>
                </a:solidFill>
              </a:defRPr>
            </a:pPr>
            <a:r>
              <a:rPr sz="2550" b="1">
                <a:solidFill>
                  <a:srgbClr val="768E78"/>
                </a:solidFill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C1C2AC-AEF9-4373-A823-B476337DF20A}"/>
              </a:ext>
            </a:extLst>
          </p:cNvPr>
          <p:cNvSpPr>
            <a:spLocks noGrp="1"/>
          </p:cNvSpPr>
          <p:nvPr/>
        </p:nvSpPr>
        <p:spPr>
          <a:xfrm>
            <a:off x="1809750" y="2362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302B"/>
                </a:solidFill>
              </a:defRPr>
            </a:pPr>
            <a:r>
              <a:rPr sz="1950" b="1">
                <a:solidFill>
                  <a:srgbClr val="2D302B"/>
                </a:solidFill>
              </a:rPr>
              <a:t>AI 맞춤 추천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3A2BC9-61F6-45FC-8304-B19E3A6E1071}"/>
              </a:ext>
            </a:extLst>
          </p:cNvPr>
          <p:cNvSpPr>
            <a:spLocks noGrp="1"/>
          </p:cNvSpPr>
          <p:nvPr/>
        </p:nvSpPr>
        <p:spPr>
          <a:xfrm>
            <a:off x="1809750" y="2733675"/>
            <a:ext cx="3476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OpenAI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상담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>
                <a:solidFill>
                  <a:srgbClr val="717166"/>
                </a:solidFill>
              </a:rPr>
              <a:t>BMR/TDEE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알레르기와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취향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반영</a:t>
            </a:r>
            <a:endParaRPr sz="1350" b="0" dirty="0">
              <a:solidFill>
                <a:srgbClr val="717166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557B83-8BD0-48BA-AE25-40D3096CC4F3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5095875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B55C52-2FE1-4F03-9D44-BE8C29B16BE0}"/>
              </a:ext>
            </a:extLst>
          </p:cNvPr>
          <p:cNvSpPr>
            <a:spLocks noGrp="1"/>
          </p:cNvSpPr>
          <p:nvPr/>
        </p:nvSpPr>
        <p:spPr>
          <a:xfrm>
            <a:off x="6581775" y="233362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68E78"/>
                </a:solidFill>
              </a:defRPr>
            </a:pPr>
            <a:r>
              <a:rPr sz="2550" b="1">
                <a:solidFill>
                  <a:srgbClr val="768E78"/>
                </a:solidFill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8A3F08-FFF2-4BF7-B4AC-8B70E612B8EA}"/>
              </a:ext>
            </a:extLst>
          </p:cNvPr>
          <p:cNvSpPr>
            <a:spLocks noGrp="1"/>
          </p:cNvSpPr>
          <p:nvPr/>
        </p:nvSpPr>
        <p:spPr>
          <a:xfrm>
            <a:off x="7400925" y="2362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302B"/>
                </a:solidFill>
              </a:defRPr>
            </a:pPr>
            <a:r>
              <a:rPr sz="1950" b="1">
                <a:solidFill>
                  <a:srgbClr val="2D302B"/>
                </a:solidFill>
              </a:rPr>
              <a:t>커스텀 식단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6CD9F1-8EAC-4106-9444-A11F20841D5F}"/>
              </a:ext>
            </a:extLst>
          </p:cNvPr>
          <p:cNvSpPr>
            <a:spLocks noGrp="1"/>
          </p:cNvSpPr>
          <p:nvPr/>
        </p:nvSpPr>
        <p:spPr>
          <a:xfrm>
            <a:off x="7400925" y="2733675"/>
            <a:ext cx="3476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식재료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선택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>
                <a:solidFill>
                  <a:srgbClr val="717166"/>
                </a:solidFill>
              </a:rPr>
              <a:t>50g </a:t>
            </a:r>
            <a:r>
              <a:rPr sz="1350" b="0" dirty="0" err="1">
                <a:solidFill>
                  <a:srgbClr val="717166"/>
                </a:solidFill>
              </a:rPr>
              <a:t>단위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조절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영양소</a:t>
            </a:r>
            <a:r>
              <a:rPr lang="en-US" sz="1350" b="0" dirty="0">
                <a:solidFill>
                  <a:srgbClr val="717166"/>
                </a:solidFill>
              </a:rPr>
              <a:t> </a:t>
            </a:r>
            <a:r>
              <a:rPr sz="1350" b="0" dirty="0">
                <a:solidFill>
                  <a:srgbClr val="717166"/>
                </a:solidFill>
              </a:rPr>
              <a:t>/</a:t>
            </a:r>
            <a:r>
              <a:rPr lang="en-US"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가격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실시간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계산</a:t>
            </a:r>
            <a:endParaRPr sz="1350" b="0" dirty="0">
              <a:solidFill>
                <a:srgbClr val="717166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7045752-B77D-4F08-B0FF-54A2D9465BC7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5095875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5B6217-868F-4AD0-8344-D6AEDD147E93}"/>
              </a:ext>
            </a:extLst>
          </p:cNvPr>
          <p:cNvSpPr>
            <a:spLocks noGrp="1"/>
          </p:cNvSpPr>
          <p:nvPr/>
        </p:nvSpPr>
        <p:spPr>
          <a:xfrm>
            <a:off x="990600" y="43338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68E78"/>
                </a:solidFill>
              </a:defRPr>
            </a:pPr>
            <a:r>
              <a:rPr sz="2550" b="1">
                <a:solidFill>
                  <a:srgbClr val="768E78"/>
                </a:solidFill>
              </a:rPr>
              <a:t>03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58069A-6467-4C52-8DAC-65859817E81E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302B"/>
                </a:solidFill>
              </a:defRPr>
            </a:pPr>
            <a:r>
              <a:rPr sz="1950" b="1">
                <a:solidFill>
                  <a:srgbClr val="2D302B"/>
                </a:solidFill>
              </a:rPr>
              <a:t>주문 · 구독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236075-2317-4C35-A23C-03A628A46FA5}"/>
              </a:ext>
            </a:extLst>
          </p:cNvPr>
          <p:cNvSpPr>
            <a:spLocks noGrp="1"/>
          </p:cNvSpPr>
          <p:nvPr/>
        </p:nvSpPr>
        <p:spPr>
          <a:xfrm>
            <a:off x="1809750" y="4733925"/>
            <a:ext cx="3476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단건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주문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 err="1">
                <a:solidFill>
                  <a:srgbClr val="717166"/>
                </a:solidFill>
              </a:rPr>
              <a:t>장바구니</a:t>
            </a:r>
            <a:endParaRPr lang="en-US" sz="1350" b="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>
                <a:solidFill>
                  <a:srgbClr val="717166"/>
                </a:solidFill>
              </a:rPr>
              <a:t>월 </a:t>
            </a:r>
            <a:r>
              <a:rPr sz="1350" b="0" dirty="0" err="1">
                <a:solidFill>
                  <a:srgbClr val="717166"/>
                </a:solidFill>
              </a:rPr>
              <a:t>단위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반복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구독</a:t>
            </a:r>
            <a:endParaRPr lang="en-US" sz="1350" dirty="0">
              <a:solidFill>
                <a:srgbClr val="717166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F2754A0-EC1E-47F4-B94D-EB5303F4CBAC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5095875" cy="142875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FC76B5-B11F-4FD0-8CED-BFCEB7B5870F}"/>
              </a:ext>
            </a:extLst>
          </p:cNvPr>
          <p:cNvSpPr>
            <a:spLocks noGrp="1"/>
          </p:cNvSpPr>
          <p:nvPr/>
        </p:nvSpPr>
        <p:spPr>
          <a:xfrm>
            <a:off x="6581775" y="43338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68E78"/>
                </a:solidFill>
              </a:defRPr>
            </a:pPr>
            <a:r>
              <a:rPr sz="2550" b="1" dirty="0">
                <a:solidFill>
                  <a:srgbClr val="768E78"/>
                </a:solidFill>
              </a:rPr>
              <a:t>04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67F00A2-242D-4555-82CC-DF7EA25A73FD}"/>
              </a:ext>
            </a:extLst>
          </p:cNvPr>
          <p:cNvSpPr>
            <a:spLocks noGrp="1"/>
          </p:cNvSpPr>
          <p:nvPr/>
        </p:nvSpPr>
        <p:spPr>
          <a:xfrm>
            <a:off x="7400925" y="43624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302B"/>
                </a:solidFill>
              </a:defRPr>
            </a:pPr>
            <a:r>
              <a:rPr sz="1950" b="1">
                <a:solidFill>
                  <a:srgbClr val="2D302B"/>
                </a:solidFill>
              </a:rPr>
              <a:t>관리자 · 알림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A1AFFC-DFBD-4BE4-8D87-4B2AA735DAD7}"/>
              </a:ext>
            </a:extLst>
          </p:cNvPr>
          <p:cNvSpPr>
            <a:spLocks noGrp="1"/>
          </p:cNvSpPr>
          <p:nvPr/>
        </p:nvSpPr>
        <p:spPr>
          <a:xfrm>
            <a:off x="7400925" y="4733925"/>
            <a:ext cx="3476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>
                <a:solidFill>
                  <a:srgbClr val="717166"/>
                </a:solidFill>
              </a:rPr>
              <a:t>주</a:t>
            </a:r>
            <a:r>
              <a:rPr lang="ko-KR" altLang="en-US" sz="1350" b="0">
                <a:solidFill>
                  <a:srgbClr val="717166"/>
                </a:solidFill>
              </a:rPr>
              <a:t>문 상태 관리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lang="ko-KR" altLang="en-US" sz="1350" b="0" dirty="0">
                <a:solidFill>
                  <a:srgbClr val="717166"/>
                </a:solidFill>
              </a:rPr>
              <a:t>픽업 포인트 </a:t>
            </a:r>
            <a:r>
              <a:rPr lang="en-US" altLang="ko-KR" sz="1350" b="0" dirty="0">
                <a:solidFill>
                  <a:srgbClr val="717166"/>
                </a:solidFill>
              </a:rPr>
              <a:t>/ </a:t>
            </a:r>
            <a:r>
              <a:rPr sz="1350" b="0" dirty="0" err="1">
                <a:solidFill>
                  <a:srgbClr val="717166"/>
                </a:solidFill>
              </a:rPr>
              <a:t>사물함</a:t>
            </a:r>
            <a:r>
              <a:rPr sz="1350" b="0" dirty="0">
                <a:solidFill>
                  <a:srgbClr val="717166"/>
                </a:solidFill>
              </a:rPr>
              <a:t> </a:t>
            </a:r>
            <a:r>
              <a:rPr sz="1350" b="0" dirty="0" err="1">
                <a:solidFill>
                  <a:srgbClr val="717166"/>
                </a:solidFill>
              </a:rPr>
              <a:t>지정</a:t>
            </a:r>
            <a:endParaRPr lang="en-US" sz="1350" dirty="0">
              <a:solidFill>
                <a:srgbClr val="717166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717166"/>
                </a:solidFill>
              </a:defRPr>
            </a:pPr>
            <a:r>
              <a:rPr sz="1350" b="0" dirty="0">
                <a:solidFill>
                  <a:srgbClr val="717166"/>
                </a:solidFill>
              </a:rPr>
              <a:t>FCM </a:t>
            </a:r>
            <a:r>
              <a:rPr sz="1350" b="0" dirty="0" err="1">
                <a:solidFill>
                  <a:srgbClr val="717166"/>
                </a:solidFill>
              </a:rPr>
              <a:t>발송</a:t>
            </a:r>
            <a:endParaRPr sz="1350" b="0" dirty="0">
              <a:solidFill>
                <a:srgbClr val="717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54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D19304-8AA0-4EE8-86DA-E929192778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EDD3D8-0696-4B50-848D-20C14F2296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68E78"/>
                </a:solidFill>
              </a:defRPr>
            </a:pPr>
            <a:r>
              <a:rPr sz="1200" b="1" dirty="0">
                <a:solidFill>
                  <a:srgbClr val="768E78"/>
                </a:solidFill>
              </a:rPr>
              <a:t>0</a:t>
            </a:r>
            <a:r>
              <a:rPr lang="en-US" sz="1200" b="1" dirty="0">
                <a:solidFill>
                  <a:srgbClr val="768E78"/>
                </a:solidFill>
              </a:rPr>
              <a:t>4</a:t>
            </a:r>
            <a:r>
              <a:rPr sz="1200" b="1" dirty="0">
                <a:solidFill>
                  <a:srgbClr val="768E78"/>
                </a:solidFill>
              </a:rPr>
              <a:t>  </a:t>
            </a:r>
            <a:r>
              <a:rPr sz="1200" b="1" dirty="0" err="1">
                <a:solidFill>
                  <a:srgbClr val="768E78"/>
                </a:solidFill>
              </a:rPr>
              <a:t>개발</a:t>
            </a:r>
            <a:r>
              <a:rPr sz="1200" b="1" dirty="0">
                <a:solidFill>
                  <a:srgbClr val="768E78"/>
                </a:solidFill>
              </a:rPr>
              <a:t> </a:t>
            </a:r>
            <a:r>
              <a:rPr sz="1200" b="1" dirty="0" err="1">
                <a:solidFill>
                  <a:srgbClr val="768E78"/>
                </a:solidFill>
              </a:rPr>
              <a:t>결과</a:t>
            </a:r>
            <a:r>
              <a:rPr sz="1200" b="1" dirty="0">
                <a:solidFill>
                  <a:srgbClr val="768E78"/>
                </a:solidFill>
              </a:rPr>
              <a:t> / </a:t>
            </a:r>
            <a:r>
              <a:rPr sz="1200" b="1" dirty="0" err="1">
                <a:solidFill>
                  <a:srgbClr val="768E78"/>
                </a:solidFill>
              </a:rPr>
              <a:t>시스템</a:t>
            </a:r>
            <a:r>
              <a:rPr sz="1200" b="1" dirty="0">
                <a:solidFill>
                  <a:srgbClr val="768E78"/>
                </a:solidFill>
              </a:rPr>
              <a:t> </a:t>
            </a:r>
            <a:r>
              <a:rPr sz="1200" b="1" dirty="0" err="1">
                <a:solidFill>
                  <a:srgbClr val="768E78"/>
                </a:solidFill>
              </a:rPr>
              <a:t>구조</a:t>
            </a:r>
            <a:endParaRPr sz="1200" b="1" dirty="0">
              <a:solidFill>
                <a:srgbClr val="768E7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978A11-533B-42FD-8E8B-31BEF7E892C6}"/>
              </a:ext>
            </a:extLst>
          </p:cNvPr>
          <p:cNvSpPr>
            <a:spLocks noGrp="1"/>
          </p:cNvSpPr>
          <p:nvPr/>
        </p:nvSpPr>
        <p:spPr>
          <a:xfrm>
            <a:off x="8858250" y="6305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17166"/>
                </a:solidFill>
              </a:defRPr>
            </a:pPr>
            <a:r>
              <a:rPr sz="1050" b="0">
                <a:solidFill>
                  <a:srgbClr val="717166"/>
                </a:solidFill>
              </a:rPr>
              <a:t>FitBox · AI 맞춤 식단 O2O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C77C50-FDE9-4303-B1A9-89BB59892FF3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5905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2D302B"/>
                </a:solidFill>
              </a:defRPr>
            </a:pPr>
            <a:r>
              <a:rPr lang="en-US" altLang="ko-KR" sz="3000" b="1" dirty="0" err="1">
                <a:solidFill>
                  <a:srgbClr val="2D302B"/>
                </a:solidFill>
              </a:rPr>
              <a:t>FitBox</a:t>
            </a:r>
            <a:r>
              <a:rPr lang="ko-KR" altLang="en-US" sz="3000" b="1" dirty="0">
                <a:solidFill>
                  <a:srgbClr val="2D302B"/>
                </a:solidFill>
              </a:rPr>
              <a:t>는 앱</a:t>
            </a:r>
            <a:r>
              <a:rPr lang="en-US" altLang="ko-KR" sz="3000" b="1" dirty="0">
                <a:solidFill>
                  <a:srgbClr val="2D302B"/>
                </a:solidFill>
              </a:rPr>
              <a:t>·</a:t>
            </a:r>
            <a:r>
              <a:rPr lang="ko-KR" altLang="en-US" sz="3000" b="1" dirty="0">
                <a:solidFill>
                  <a:srgbClr val="2D302B"/>
                </a:solidFill>
              </a:rPr>
              <a:t>서버</a:t>
            </a:r>
            <a:r>
              <a:rPr lang="en-US" altLang="ko-KR" sz="3000" b="1" dirty="0">
                <a:solidFill>
                  <a:srgbClr val="2D302B"/>
                </a:solidFill>
              </a:rPr>
              <a:t>·DB·</a:t>
            </a:r>
            <a:r>
              <a:rPr lang="ko-KR" altLang="en-US" sz="3000" b="1" dirty="0">
                <a:solidFill>
                  <a:srgbClr val="2D302B"/>
                </a:solidFill>
              </a:rPr>
              <a:t>외부 </a:t>
            </a:r>
            <a:r>
              <a:rPr lang="en-US" altLang="ko-KR" sz="3000" b="1" dirty="0">
                <a:solidFill>
                  <a:srgbClr val="2D302B"/>
                </a:solidFill>
              </a:rPr>
              <a:t>API</a:t>
            </a:r>
            <a:r>
              <a:rPr lang="ko-KR" altLang="en-US" sz="3000" b="1" dirty="0">
                <a:solidFill>
                  <a:srgbClr val="2D302B"/>
                </a:solidFill>
              </a:rPr>
              <a:t>를</a:t>
            </a:r>
            <a:br>
              <a:rPr lang="en-US" altLang="ko-KR" sz="3000" b="1" dirty="0">
                <a:solidFill>
                  <a:srgbClr val="2D302B"/>
                </a:solidFill>
              </a:rPr>
            </a:br>
            <a:r>
              <a:rPr lang="ko-KR" altLang="en-US" sz="3000" b="1" dirty="0">
                <a:solidFill>
                  <a:srgbClr val="2D302B"/>
                </a:solidFill>
              </a:rPr>
              <a:t>하나의 주문 흐름으로 연결합니다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0EF41D4-49BF-46F2-8334-066CA549CC6C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809750" cy="11430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8CFFCB-1188-41DC-95C4-BCF7F3670F44}"/>
              </a:ext>
            </a:extLst>
          </p:cNvPr>
          <p:cNvSpPr>
            <a:spLocks noGrp="1"/>
          </p:cNvSpPr>
          <p:nvPr/>
        </p:nvSpPr>
        <p:spPr>
          <a:xfrm>
            <a:off x="933450" y="31908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sz="1650" b="1">
                <a:solidFill>
                  <a:srgbClr val="2D302B"/>
                </a:solidFill>
              </a:rPr>
              <a:t>Android App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D02D6A-294D-4ECA-88F5-4A6895B373E5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회원 가입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주문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구독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지도 화면</a:t>
            </a:r>
            <a:endParaRPr sz="1050" b="0" dirty="0">
              <a:solidFill>
                <a:srgbClr val="717166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54A6828-0C4F-461C-8F6D-0259CB6B1EA0}"/>
              </a:ext>
            </a:extLst>
          </p:cNvPr>
          <p:cNvSpPr>
            <a:spLocks noGrp="1"/>
          </p:cNvSpPr>
          <p:nvPr/>
        </p:nvSpPr>
        <p:spPr>
          <a:xfrm>
            <a:off x="3238500" y="2952750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644F56-8A17-4113-9AC0-B1D5C3105D60}"/>
              </a:ext>
            </a:extLst>
          </p:cNvPr>
          <p:cNvSpPr>
            <a:spLocks noGrp="1"/>
          </p:cNvSpPr>
          <p:nvPr/>
        </p:nvSpPr>
        <p:spPr>
          <a:xfrm>
            <a:off x="3409950" y="31908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sz="1650" b="1">
                <a:solidFill>
                  <a:srgbClr val="2D302B"/>
                </a:solidFill>
              </a:rPr>
              <a:t>Retrofit2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D7E11C-4650-4A06-9FBC-32BBBB3BA0E9}"/>
              </a:ext>
            </a:extLst>
          </p:cNvPr>
          <p:cNvSpPr>
            <a:spLocks noGrp="1"/>
          </p:cNvSpPr>
          <p:nvPr/>
        </p:nvSpPr>
        <p:spPr>
          <a:xfrm>
            <a:off x="3390900" y="35814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앱 요청을 서버 </a:t>
            </a:r>
            <a:r>
              <a:rPr lang="en-US" altLang="ko-KR" sz="1050" b="0" dirty="0">
                <a:solidFill>
                  <a:srgbClr val="717166"/>
                </a:solidFill>
              </a:rPr>
              <a:t>API</a:t>
            </a:r>
            <a:r>
              <a:rPr lang="ko-KR" altLang="en-US" sz="1050" dirty="0">
                <a:solidFill>
                  <a:srgbClr val="717166"/>
                </a:solidFill>
              </a:rPr>
              <a:t>로 전달</a:t>
            </a:r>
            <a:endParaRPr sz="1050" b="0" dirty="0">
              <a:solidFill>
                <a:srgbClr val="717166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507CA7-88B5-4DCC-8082-0F3D7602C678}"/>
              </a:ext>
            </a:extLst>
          </p:cNvPr>
          <p:cNvSpPr>
            <a:spLocks noGrp="1"/>
          </p:cNvSpPr>
          <p:nvPr/>
        </p:nvSpPr>
        <p:spPr>
          <a:xfrm>
            <a:off x="5715000" y="2962275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DFA500-3B0B-46EE-BAB6-A6AB3B27A6D6}"/>
              </a:ext>
            </a:extLst>
          </p:cNvPr>
          <p:cNvSpPr>
            <a:spLocks noGrp="1"/>
          </p:cNvSpPr>
          <p:nvPr/>
        </p:nvSpPr>
        <p:spPr>
          <a:xfrm>
            <a:off x="5886450" y="320040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sz="1650" b="1">
                <a:solidFill>
                  <a:srgbClr val="2D302B"/>
                </a:solidFill>
              </a:rPr>
              <a:t>Spring Boot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DF2E8C-DCB1-4E1A-9B5B-2971E99D475E}"/>
              </a:ext>
            </a:extLst>
          </p:cNvPr>
          <p:cNvSpPr>
            <a:spLocks noGrp="1"/>
          </p:cNvSpPr>
          <p:nvPr/>
        </p:nvSpPr>
        <p:spPr>
          <a:xfrm>
            <a:off x="5867400" y="359092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주문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구독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회원 로직 처리</a:t>
            </a:r>
            <a:endParaRPr sz="1050" b="0" dirty="0">
              <a:solidFill>
                <a:srgbClr val="717166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4114691-44FA-4813-AF84-5E92D1576303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174F25-8F76-4027-8FD0-6018A923289D}"/>
              </a:ext>
            </a:extLst>
          </p:cNvPr>
          <p:cNvSpPr>
            <a:spLocks noGrp="1"/>
          </p:cNvSpPr>
          <p:nvPr/>
        </p:nvSpPr>
        <p:spPr>
          <a:xfrm>
            <a:off x="8362950" y="31908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sz="1650" b="1" dirty="0">
                <a:solidFill>
                  <a:srgbClr val="2D302B"/>
                </a:solidFill>
              </a:rPr>
              <a:t>MySQL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E5296B-53D5-4EA8-BDB5-658D013D3447}"/>
              </a:ext>
            </a:extLst>
          </p:cNvPr>
          <p:cNvSpPr>
            <a:spLocks noGrp="1"/>
          </p:cNvSpPr>
          <p:nvPr/>
        </p:nvSpPr>
        <p:spPr>
          <a:xfrm>
            <a:off x="8343900" y="35814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717166"/>
                </a:solidFill>
              </a:defRPr>
            </a:pPr>
            <a:r>
              <a:rPr sz="1050" b="0" dirty="0" err="1">
                <a:solidFill>
                  <a:srgbClr val="717166"/>
                </a:solidFill>
              </a:rPr>
              <a:t>회원</a:t>
            </a:r>
            <a:r>
              <a:rPr sz="1050" b="0" dirty="0">
                <a:solidFill>
                  <a:srgbClr val="717166"/>
                </a:solidFill>
              </a:rPr>
              <a:t> · </a:t>
            </a:r>
            <a:r>
              <a:rPr sz="1050" b="0" dirty="0" err="1">
                <a:solidFill>
                  <a:srgbClr val="717166"/>
                </a:solidFill>
              </a:rPr>
              <a:t>식단</a:t>
            </a:r>
            <a:r>
              <a:rPr sz="1050" b="0" dirty="0">
                <a:solidFill>
                  <a:srgbClr val="717166"/>
                </a:solidFill>
              </a:rPr>
              <a:t> · </a:t>
            </a:r>
            <a:r>
              <a:rPr sz="1050" b="0" dirty="0" err="1">
                <a:solidFill>
                  <a:srgbClr val="717166"/>
                </a:solidFill>
              </a:rPr>
              <a:t>주문</a:t>
            </a:r>
            <a:r>
              <a:rPr sz="1050" b="0" dirty="0">
                <a:solidFill>
                  <a:srgbClr val="717166"/>
                </a:solidFill>
              </a:rPr>
              <a:t> ·</a:t>
            </a:r>
            <a:r>
              <a:rPr lang="en-US" sz="1050" b="0" dirty="0">
                <a:solidFill>
                  <a:srgbClr val="717166"/>
                </a:solidFill>
              </a:rPr>
              <a:t> </a:t>
            </a:r>
            <a:r>
              <a:rPr lang="ko-KR" altLang="en-US" sz="1050" b="0" dirty="0">
                <a:solidFill>
                  <a:srgbClr val="717166"/>
                </a:solidFill>
              </a:rPr>
              <a:t>구독 저장</a:t>
            </a:r>
            <a:endParaRPr sz="1050" b="0" dirty="0">
              <a:solidFill>
                <a:srgbClr val="717166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87930A-F2F2-4B47-84B8-62846CFBEEC1}"/>
              </a:ext>
            </a:extLst>
          </p:cNvPr>
          <p:cNvSpPr>
            <a:spLocks noGrp="1"/>
          </p:cNvSpPr>
          <p:nvPr/>
        </p:nvSpPr>
        <p:spPr>
          <a:xfrm>
            <a:off x="2724150" y="32575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3800DF-05BD-48AB-8427-ACFA3561A5D3}"/>
              </a:ext>
            </a:extLst>
          </p:cNvPr>
          <p:cNvSpPr>
            <a:spLocks noGrp="1"/>
          </p:cNvSpPr>
          <p:nvPr/>
        </p:nvSpPr>
        <p:spPr>
          <a:xfrm>
            <a:off x="5200650" y="32575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34FD3A-5C95-4553-9AE0-A63D090B59F4}"/>
              </a:ext>
            </a:extLst>
          </p:cNvPr>
          <p:cNvSpPr>
            <a:spLocks noGrp="1"/>
          </p:cNvSpPr>
          <p:nvPr/>
        </p:nvSpPr>
        <p:spPr>
          <a:xfrm>
            <a:off x="7677150" y="32575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768E78"/>
                </a:solidFill>
              </a:defRPr>
            </a:pPr>
            <a:r>
              <a:rPr sz="2400" b="1" dirty="0">
                <a:solidFill>
                  <a:srgbClr val="768E78"/>
                </a:solidFill>
              </a:rPr>
              <a:t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25D6D05-D052-42AE-AECC-D7FB0BBE2E44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455420" cy="381000"/>
          </a:xfrm>
          <a:prstGeom prst="roundRect">
            <a:avLst>
              <a:gd name="adj" fmla="val 50000"/>
            </a:avLst>
          </a:prstGeom>
          <a:solidFill>
            <a:srgbClr val="F3EED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F5142"/>
                </a:solidFill>
              </a:defRPr>
            </a:pPr>
            <a:r>
              <a:rPr lang="ko-KR" altLang="en-US" sz="1350" b="1" dirty="0">
                <a:solidFill>
                  <a:srgbClr val="3F5142"/>
                </a:solidFill>
              </a:rPr>
              <a:t>중앙 흐름</a:t>
            </a:r>
            <a:endParaRPr sz="1350" b="1" dirty="0">
              <a:solidFill>
                <a:srgbClr val="3F5142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8693F9-0019-430E-A72B-96EEB0FF9645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455420" cy="381000"/>
          </a:xfrm>
          <a:prstGeom prst="roundRect">
            <a:avLst>
              <a:gd name="adj" fmla="val 50000"/>
            </a:avLst>
          </a:prstGeom>
          <a:solidFill>
            <a:srgbClr val="F3EEDC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F5142"/>
                </a:solidFill>
              </a:defRPr>
            </a:pPr>
            <a:r>
              <a:rPr lang="ko-KR" altLang="en-US" sz="1350" b="1" dirty="0">
                <a:solidFill>
                  <a:srgbClr val="3F5142"/>
                </a:solidFill>
              </a:rPr>
              <a:t>외부 </a:t>
            </a:r>
            <a:r>
              <a:rPr lang="en-US" altLang="ko-KR" sz="1350" b="1" dirty="0">
                <a:solidFill>
                  <a:srgbClr val="3F5142"/>
                </a:solidFill>
              </a:rPr>
              <a:t>API</a:t>
            </a:r>
            <a:endParaRPr sz="1350" b="1" dirty="0">
              <a:solidFill>
                <a:srgbClr val="3F5142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11ACEE1-C11A-4BED-8CFF-6FD783C9AF78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809750" cy="11430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850A42A-CD06-45C8-B610-8E3EC4436BF1}"/>
              </a:ext>
            </a:extLst>
          </p:cNvPr>
          <p:cNvSpPr>
            <a:spLocks noGrp="1"/>
          </p:cNvSpPr>
          <p:nvPr/>
        </p:nvSpPr>
        <p:spPr>
          <a:xfrm>
            <a:off x="933450" y="52482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lang="en-US" sz="1650" b="1" dirty="0" err="1">
                <a:solidFill>
                  <a:srgbClr val="2D302B"/>
                </a:solidFill>
              </a:rPr>
              <a:t>OpenAI</a:t>
            </a:r>
            <a:endParaRPr sz="1650" b="1" dirty="0">
              <a:solidFill>
                <a:srgbClr val="2D302B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3EBD70-E7BB-4FFD-B168-E33688D12E05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717166"/>
                </a:solidFill>
              </a:defRPr>
            </a:pPr>
            <a:r>
              <a:rPr lang="en-US" altLang="ko-KR" sz="1050" b="0" dirty="0">
                <a:solidFill>
                  <a:srgbClr val="717166"/>
                </a:solidFill>
              </a:rPr>
              <a:t>AI </a:t>
            </a:r>
            <a:r>
              <a:rPr lang="ko-KR" altLang="en-US" sz="1050" b="0" dirty="0">
                <a:solidFill>
                  <a:srgbClr val="717166"/>
                </a:solidFill>
              </a:rPr>
              <a:t>상담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맞춤 식단 추천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D11A2FC-C156-40C1-82D4-CBC8DAF8F5E0}"/>
              </a:ext>
            </a:extLst>
          </p:cNvPr>
          <p:cNvSpPr>
            <a:spLocks noGrp="1"/>
          </p:cNvSpPr>
          <p:nvPr/>
        </p:nvSpPr>
        <p:spPr>
          <a:xfrm>
            <a:off x="3238500" y="4985385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60644A9-DC3D-4AE1-BB31-461644588518}"/>
              </a:ext>
            </a:extLst>
          </p:cNvPr>
          <p:cNvSpPr>
            <a:spLocks noGrp="1"/>
          </p:cNvSpPr>
          <p:nvPr/>
        </p:nvSpPr>
        <p:spPr>
          <a:xfrm>
            <a:off x="3409950" y="522351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lang="en-US" sz="1650" b="1" dirty="0">
                <a:solidFill>
                  <a:srgbClr val="2D302B"/>
                </a:solidFill>
              </a:rPr>
              <a:t>Google Maps</a:t>
            </a:r>
            <a:endParaRPr sz="1650" b="1" dirty="0">
              <a:solidFill>
                <a:srgbClr val="2D302B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EA169DC-54C9-49FF-83E6-7EACB0F12130}"/>
              </a:ext>
            </a:extLst>
          </p:cNvPr>
          <p:cNvSpPr>
            <a:spLocks noGrp="1"/>
          </p:cNvSpPr>
          <p:nvPr/>
        </p:nvSpPr>
        <p:spPr>
          <a:xfrm>
            <a:off x="3390900" y="561403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매장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픽업 포인트 지도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5C7B0D9-9BD3-4879-9126-16411DC50CF8}"/>
              </a:ext>
            </a:extLst>
          </p:cNvPr>
          <p:cNvSpPr>
            <a:spLocks noGrp="1"/>
          </p:cNvSpPr>
          <p:nvPr/>
        </p:nvSpPr>
        <p:spPr>
          <a:xfrm>
            <a:off x="5715000" y="4994910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B8C74CA-9AA8-44D1-9715-1B8320969F13}"/>
              </a:ext>
            </a:extLst>
          </p:cNvPr>
          <p:cNvSpPr>
            <a:spLocks noGrp="1"/>
          </p:cNvSpPr>
          <p:nvPr/>
        </p:nvSpPr>
        <p:spPr>
          <a:xfrm>
            <a:off x="5886450" y="523303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lang="en-US" sz="1650" b="1" dirty="0">
                <a:solidFill>
                  <a:srgbClr val="2D302B"/>
                </a:solidFill>
              </a:rPr>
              <a:t>Firebase FCM</a:t>
            </a:r>
            <a:endParaRPr sz="1650" b="1" dirty="0">
              <a:solidFill>
                <a:srgbClr val="2D302B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4343146-573F-4E5C-AE30-81711C667A98}"/>
              </a:ext>
            </a:extLst>
          </p:cNvPr>
          <p:cNvSpPr>
            <a:spLocks noGrp="1"/>
          </p:cNvSpPr>
          <p:nvPr/>
        </p:nvSpPr>
        <p:spPr>
          <a:xfrm>
            <a:off x="5867400" y="562356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주문 상태 </a:t>
            </a:r>
            <a:r>
              <a:rPr lang="en-US" altLang="ko-KR" sz="1050" b="0" dirty="0">
                <a:solidFill>
                  <a:srgbClr val="717166"/>
                </a:solidFill>
              </a:rPr>
              <a:t>· </a:t>
            </a:r>
            <a:r>
              <a:rPr lang="ko-KR" altLang="en-US" sz="1050" b="0" dirty="0">
                <a:solidFill>
                  <a:srgbClr val="717166"/>
                </a:solidFill>
              </a:rPr>
              <a:t>픽업 알림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3B51931-2811-4CD4-94FA-3F019100ACD8}"/>
              </a:ext>
            </a:extLst>
          </p:cNvPr>
          <p:cNvSpPr>
            <a:spLocks noGrp="1"/>
          </p:cNvSpPr>
          <p:nvPr/>
        </p:nvSpPr>
        <p:spPr>
          <a:xfrm>
            <a:off x="8191500" y="4985385"/>
            <a:ext cx="18097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C2956F6-722F-467F-B521-1681FEAEF99C}"/>
              </a:ext>
            </a:extLst>
          </p:cNvPr>
          <p:cNvSpPr>
            <a:spLocks noGrp="1"/>
          </p:cNvSpPr>
          <p:nvPr/>
        </p:nvSpPr>
        <p:spPr>
          <a:xfrm>
            <a:off x="8362950" y="522351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302B"/>
                </a:solidFill>
              </a:defRPr>
            </a:pPr>
            <a:r>
              <a:rPr lang="en-US" sz="1650" b="1" dirty="0" err="1">
                <a:solidFill>
                  <a:srgbClr val="2D302B"/>
                </a:solidFill>
              </a:rPr>
              <a:t>Kakao</a:t>
            </a:r>
            <a:r>
              <a:rPr lang="en-US" sz="1650" b="1" dirty="0">
                <a:solidFill>
                  <a:srgbClr val="2D302B"/>
                </a:solidFill>
              </a:rPr>
              <a:t>/</a:t>
            </a:r>
            <a:r>
              <a:rPr lang="en-US" sz="1650" b="1" dirty="0" err="1">
                <a:solidFill>
                  <a:srgbClr val="2D302B"/>
                </a:solidFill>
              </a:rPr>
              <a:t>Daum</a:t>
            </a:r>
            <a:endParaRPr sz="1650" b="1" dirty="0">
              <a:solidFill>
                <a:srgbClr val="2D302B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161FC67-A45E-4B6C-AABF-C894326FAAAF}"/>
              </a:ext>
            </a:extLst>
          </p:cNvPr>
          <p:cNvSpPr>
            <a:spLocks noGrp="1"/>
          </p:cNvSpPr>
          <p:nvPr/>
        </p:nvSpPr>
        <p:spPr>
          <a:xfrm>
            <a:off x="8343900" y="5614035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717166"/>
                </a:solidFill>
              </a:defRPr>
            </a:pPr>
            <a:r>
              <a:rPr lang="ko-KR" altLang="en-US" sz="1050" b="0" dirty="0">
                <a:solidFill>
                  <a:srgbClr val="717166"/>
                </a:solidFill>
              </a:rPr>
              <a:t>소셜 로그인 </a:t>
            </a:r>
            <a:r>
              <a:rPr lang="en-US" altLang="ko-KR" sz="1050" dirty="0">
                <a:solidFill>
                  <a:srgbClr val="717166"/>
                </a:solidFill>
              </a:rPr>
              <a:t>·</a:t>
            </a:r>
            <a:r>
              <a:rPr lang="ko-KR" altLang="en-US" sz="1050" b="0" dirty="0">
                <a:solidFill>
                  <a:srgbClr val="717166"/>
                </a:solidFill>
              </a:rPr>
              <a:t> 주소</a:t>
            </a:r>
            <a:r>
              <a:rPr lang="ko-KR" altLang="en-US" sz="1050" dirty="0">
                <a:solidFill>
                  <a:srgbClr val="717166"/>
                </a:solidFill>
              </a:rPr>
              <a:t> 검색</a:t>
            </a:r>
            <a:endParaRPr lang="ko-KR" altLang="en-US" sz="1050" b="0" dirty="0">
              <a:solidFill>
                <a:srgbClr val="717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3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9A0FAF-1E87-40F6-BF9A-E405F129F6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768E78"/>
          </a:solidFill>
          <a:ln w="0">
            <a:noFill/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277483-9FE8-4366-9E9E-4C2A3135722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68E78"/>
                </a:solidFill>
              </a:defRPr>
            </a:pPr>
            <a:r>
              <a:rPr sz="1200" b="1" dirty="0">
                <a:solidFill>
                  <a:srgbClr val="768E78"/>
                </a:solidFill>
              </a:rPr>
              <a:t>0</a:t>
            </a:r>
            <a:r>
              <a:rPr lang="en-US" sz="1200" b="1" dirty="0">
                <a:solidFill>
                  <a:srgbClr val="768E78"/>
                </a:solidFill>
              </a:rPr>
              <a:t>5</a:t>
            </a:r>
            <a:r>
              <a:rPr sz="1200" b="1" dirty="0">
                <a:solidFill>
                  <a:srgbClr val="768E78"/>
                </a:solidFill>
              </a:rPr>
              <a:t>  </a:t>
            </a:r>
            <a:r>
              <a:rPr sz="1200" b="1" dirty="0" err="1">
                <a:solidFill>
                  <a:srgbClr val="768E78"/>
                </a:solidFill>
              </a:rPr>
              <a:t>구현</a:t>
            </a:r>
            <a:r>
              <a:rPr sz="1200" b="1" dirty="0">
                <a:solidFill>
                  <a:srgbClr val="768E78"/>
                </a:solidFill>
              </a:rPr>
              <a:t> </a:t>
            </a:r>
            <a:r>
              <a:rPr sz="1200" b="1" dirty="0" err="1">
                <a:solidFill>
                  <a:srgbClr val="768E78"/>
                </a:solidFill>
              </a:rPr>
              <a:t>성과</a:t>
            </a:r>
            <a:r>
              <a:rPr sz="1200" b="1" dirty="0">
                <a:solidFill>
                  <a:srgbClr val="768E78"/>
                </a:solidFill>
              </a:rPr>
              <a:t> &amp; </a:t>
            </a:r>
            <a:r>
              <a:rPr sz="1200" b="1" dirty="0" err="1">
                <a:solidFill>
                  <a:srgbClr val="768E78"/>
                </a:solidFill>
              </a:rPr>
              <a:t>차별점</a:t>
            </a:r>
            <a:endParaRPr sz="1200" b="1" dirty="0">
              <a:solidFill>
                <a:srgbClr val="768E78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748BCC-69AC-4A82-BB7F-7B161CA52AD2}"/>
              </a:ext>
            </a:extLst>
          </p:cNvPr>
          <p:cNvSpPr>
            <a:spLocks noGrp="1"/>
          </p:cNvSpPr>
          <p:nvPr/>
        </p:nvSpPr>
        <p:spPr>
          <a:xfrm>
            <a:off x="8858250" y="6305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717166"/>
                </a:solidFill>
              </a:defRPr>
            </a:pPr>
            <a:r>
              <a:rPr sz="1050" b="0">
                <a:solidFill>
                  <a:srgbClr val="717166"/>
                </a:solidFill>
              </a:rPr>
              <a:t>FitBox · AI 맞춤 식단 O2O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1A1A06-CC03-4D3D-B6F8-21978EDCB050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2D302B"/>
                </a:solidFill>
              </a:defRPr>
            </a:pPr>
            <a:r>
              <a:rPr sz="2925" b="1">
                <a:solidFill>
                  <a:srgbClr val="2D302B"/>
                </a:solidFill>
              </a:rPr>
              <a:t>FitBox는 기능을 따로 만든 것이 아니라</a:t>
            </a:r>
          </a:p>
          <a:p>
            <a:pPr algn="l">
              <a:defRPr sz="2925" b="1">
                <a:solidFill>
                  <a:srgbClr val="2D302B"/>
                </a:solidFill>
              </a:defRPr>
            </a:pPr>
            <a:r>
              <a:rPr sz="2925" b="1">
                <a:solidFill>
                  <a:srgbClr val="2D302B"/>
                </a:solidFill>
              </a:rPr>
              <a:t>하나의 서비스 흐름으로 연결했습니다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F25710E-42A7-488E-86B5-DE23DDDFFA88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4762500" cy="1190625"/>
          </a:xfrm>
          <a:prstGeom prst="roundRect">
            <a:avLst>
              <a:gd name="adj" fmla="val 12800"/>
            </a:avLst>
          </a:prstGeom>
          <a:solidFill>
            <a:schemeClr val="bg1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F1199-9CA8-4FBE-8AFA-F16AB0B6C337}"/>
              </a:ext>
            </a:extLst>
          </p:cNvPr>
          <p:cNvSpPr>
            <a:spLocks noGrp="1"/>
          </p:cNvSpPr>
          <p:nvPr/>
        </p:nvSpPr>
        <p:spPr>
          <a:xfrm>
            <a:off x="1123950" y="2838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F5142"/>
                </a:solidFill>
              </a:defRPr>
            </a:pPr>
            <a:r>
              <a:rPr sz="1875" b="1">
                <a:solidFill>
                  <a:srgbClr val="3F5142"/>
                </a:solidFill>
              </a:rPr>
              <a:t>초개인화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669E4F-9441-4420-860D-D39829AADB30}"/>
              </a:ext>
            </a:extLst>
          </p:cNvPr>
          <p:cNvSpPr>
            <a:spLocks noGrp="1"/>
          </p:cNvSpPr>
          <p:nvPr/>
        </p:nvSpPr>
        <p:spPr>
          <a:xfrm>
            <a:off x="1123950" y="3257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17166"/>
                </a:solidFill>
              </a:defRPr>
            </a:pPr>
            <a:r>
              <a:rPr sz="1275" b="0">
                <a:solidFill>
                  <a:srgbClr val="717166"/>
                </a:solidFill>
              </a:rPr>
              <a:t>AI 상담 + 신체정보 + 알레르기 기반 추천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4E190D7-8052-43D7-BD6B-205C0499714F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E80AA5-99A2-4914-9DAC-D3755F821C7D}"/>
              </a:ext>
            </a:extLst>
          </p:cNvPr>
          <p:cNvSpPr>
            <a:spLocks noGrp="1"/>
          </p:cNvSpPr>
          <p:nvPr/>
        </p:nvSpPr>
        <p:spPr>
          <a:xfrm>
            <a:off x="6743700" y="2838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F5142"/>
                </a:solidFill>
              </a:defRPr>
            </a:pPr>
            <a:r>
              <a:rPr sz="1875" b="1">
                <a:solidFill>
                  <a:srgbClr val="3F5142"/>
                </a:solidFill>
              </a:rPr>
              <a:t>완성형 주문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E8CD97-4FAC-4D33-B2F8-F1E9D04002FF}"/>
              </a:ext>
            </a:extLst>
          </p:cNvPr>
          <p:cNvSpPr>
            <a:spLocks noGrp="1"/>
          </p:cNvSpPr>
          <p:nvPr/>
        </p:nvSpPr>
        <p:spPr>
          <a:xfrm>
            <a:off x="6743700" y="3257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17166"/>
                </a:solidFill>
              </a:defRPr>
            </a:pPr>
            <a:r>
              <a:rPr sz="1275" b="0">
                <a:solidFill>
                  <a:srgbClr val="717166"/>
                </a:solidFill>
              </a:rPr>
              <a:t>추천/커스텀 → 장바구니 → 주문/구독 → 수령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D9249C7-91CA-4DFC-AFFD-F276DD0E8314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0257A9-6BA2-4BC1-B53B-646370992271}"/>
              </a:ext>
            </a:extLst>
          </p:cNvPr>
          <p:cNvSpPr>
            <a:spLocks noGrp="1"/>
          </p:cNvSpPr>
          <p:nvPr/>
        </p:nvSpPr>
        <p:spPr>
          <a:xfrm>
            <a:off x="1123950" y="46005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F5142"/>
                </a:solidFill>
              </a:defRPr>
            </a:pPr>
            <a:r>
              <a:rPr sz="1875" b="1">
                <a:solidFill>
                  <a:srgbClr val="3F5142"/>
                </a:solidFill>
              </a:rPr>
              <a:t>운영 자동화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C3FED6-788D-4B27-9C60-B74D9E02E016}"/>
              </a:ext>
            </a:extLst>
          </p:cNvPr>
          <p:cNvSpPr>
            <a:spLocks noGrp="1"/>
          </p:cNvSpPr>
          <p:nvPr/>
        </p:nvSpPr>
        <p:spPr>
          <a:xfrm>
            <a:off x="1123950" y="50196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17166"/>
                </a:solidFill>
              </a:defRPr>
            </a:pPr>
            <a:r>
              <a:rPr sz="1275" b="0">
                <a:solidFill>
                  <a:srgbClr val="717166"/>
                </a:solidFill>
              </a:rPr>
              <a:t>관리자 주문 처리와 FCM 알림 연동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420A29-C7D0-4458-B98A-9ACDD80E0675}"/>
              </a:ext>
            </a:extLst>
          </p:cNvPr>
          <p:cNvSpPr>
            <a:spLocks noGrp="1"/>
          </p:cNvSpPr>
          <p:nvPr/>
        </p:nvSpPr>
        <p:spPr>
          <a:xfrm>
            <a:off x="6477000" y="4333875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9038C8-AF78-4CFA-861A-69BA48AF87F6}"/>
              </a:ext>
            </a:extLst>
          </p:cNvPr>
          <p:cNvSpPr>
            <a:spLocks noGrp="1"/>
          </p:cNvSpPr>
          <p:nvPr/>
        </p:nvSpPr>
        <p:spPr>
          <a:xfrm>
            <a:off x="6743700" y="46005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F5142"/>
                </a:solidFill>
              </a:defRPr>
            </a:pPr>
            <a:r>
              <a:rPr sz="1875" b="1">
                <a:solidFill>
                  <a:srgbClr val="3F5142"/>
                </a:solidFill>
              </a:rPr>
              <a:t>확장 가능성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2E3444-E280-41B3-B4EA-E37B21790508}"/>
              </a:ext>
            </a:extLst>
          </p:cNvPr>
          <p:cNvSpPr>
            <a:spLocks noGrp="1"/>
          </p:cNvSpPr>
          <p:nvPr/>
        </p:nvSpPr>
        <p:spPr>
          <a:xfrm>
            <a:off x="6743700" y="5019675"/>
            <a:ext cx="416814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17166"/>
                </a:solidFill>
              </a:defRPr>
            </a:pPr>
            <a:r>
              <a:rPr sz="1275" b="0" dirty="0" err="1">
                <a:solidFill>
                  <a:srgbClr val="717166"/>
                </a:solidFill>
              </a:rPr>
              <a:t>정기결제</a:t>
            </a:r>
            <a:r>
              <a:rPr sz="1275" b="0" dirty="0">
                <a:solidFill>
                  <a:srgbClr val="717166"/>
                </a:solidFill>
              </a:rPr>
              <a:t>, </a:t>
            </a:r>
            <a:r>
              <a:rPr sz="1275" b="0" dirty="0" err="1">
                <a:solidFill>
                  <a:srgbClr val="717166"/>
                </a:solidFill>
              </a:rPr>
              <a:t>재고</a:t>
            </a:r>
            <a:r>
              <a:rPr sz="1275" b="0" dirty="0">
                <a:solidFill>
                  <a:srgbClr val="717166"/>
                </a:solidFill>
              </a:rPr>
              <a:t> </a:t>
            </a:r>
            <a:r>
              <a:rPr sz="1275" b="0" dirty="0" err="1">
                <a:solidFill>
                  <a:srgbClr val="717166"/>
                </a:solidFill>
              </a:rPr>
              <a:t>관리</a:t>
            </a:r>
            <a:r>
              <a:rPr sz="1275" b="0" dirty="0">
                <a:solidFill>
                  <a:srgbClr val="717166"/>
                </a:solidFill>
              </a:rPr>
              <a:t>, </a:t>
            </a:r>
            <a:r>
              <a:rPr sz="1275" b="0" dirty="0" err="1">
                <a:solidFill>
                  <a:srgbClr val="717166"/>
                </a:solidFill>
              </a:rPr>
              <a:t>웨어러블</a:t>
            </a:r>
            <a:r>
              <a:rPr sz="1275" b="0" dirty="0">
                <a:solidFill>
                  <a:srgbClr val="717166"/>
                </a:solidFill>
              </a:rPr>
              <a:t> </a:t>
            </a:r>
            <a:r>
              <a:rPr sz="1275" b="0" dirty="0" err="1">
                <a:solidFill>
                  <a:srgbClr val="717166"/>
                </a:solidFill>
              </a:rPr>
              <a:t>데이터</a:t>
            </a:r>
            <a:r>
              <a:rPr sz="1275" b="0" dirty="0">
                <a:solidFill>
                  <a:srgbClr val="717166"/>
                </a:solidFill>
              </a:rPr>
              <a:t> 연</a:t>
            </a:r>
            <a:r>
              <a:rPr lang="ko-KR" altLang="en-US" sz="1275" b="0" dirty="0">
                <a:solidFill>
                  <a:srgbClr val="717166"/>
                </a:solidFill>
              </a:rPr>
              <a:t>동으로 확장</a:t>
            </a:r>
            <a:endParaRPr sz="1275" b="0" dirty="0">
              <a:solidFill>
                <a:srgbClr val="7171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4920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439</Words>
  <Application>Microsoft Office PowerPoint</Application>
  <DocSecurity>0</DocSecurity>
  <PresentationFormat>와이드스크린</PresentationFormat>
  <Paragraphs>103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SSAFY</cp:lastModifiedBy>
  <cp:revision>11</cp:revision>
  <dcterms:created xsi:type="dcterms:W3CDTF">2026-06-25T04:26:35Z</dcterms:created>
  <dcterms:modified xsi:type="dcterms:W3CDTF">2026-06-25T07:04:34Z</dcterms:modified>
</cp:coreProperties>
</file>